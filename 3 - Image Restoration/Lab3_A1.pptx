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1094" r:id="rId3"/>
    <p:sldId id="487" r:id="rId4"/>
    <p:sldId id="489" r:id="rId5"/>
    <p:sldId id="362" r:id="rId6"/>
    <p:sldId id="289" r:id="rId7"/>
    <p:sldId id="365" r:id="rId8"/>
    <p:sldId id="1093" r:id="rId9"/>
    <p:sldId id="293" r:id="rId10"/>
    <p:sldId id="291" r:id="rId11"/>
    <p:sldId id="290" r:id="rId12"/>
    <p:sldId id="1095" r:id="rId13"/>
    <p:sldId id="1096" r:id="rId14"/>
    <p:sldId id="1097" r:id="rId15"/>
    <p:sldId id="1098" r:id="rId16"/>
    <p:sldId id="1099" r:id="rId17"/>
    <p:sldId id="286" r:id="rId18"/>
    <p:sldId id="287" r:id="rId19"/>
    <p:sldId id="288" r:id="rId20"/>
    <p:sldId id="299" r:id="rId21"/>
    <p:sldId id="300" r:id="rId22"/>
    <p:sldId id="301" r:id="rId23"/>
    <p:sldId id="1100" r:id="rId24"/>
    <p:sldId id="314" r:id="rId25"/>
    <p:sldId id="315" r:id="rId26"/>
    <p:sldId id="1102" r:id="rId27"/>
    <p:sldId id="1101" r:id="rId28"/>
    <p:sldId id="29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9794-C84E-4082-8D4E-5398E1A45EA7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BC0CB-5391-4231-9479-19483AC32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38D0A687-394A-4ED0-6019-76E3682C72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4063" indent="-2889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8875" indent="-231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24013" indent="-231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87563" indent="-231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44763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1963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9163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16363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94A075-058F-46E9-9A35-07E691B15170}" type="slidenum">
              <a:rPr kumimoji="0" lang="en-US" altLang="en-US" sz="1200"/>
              <a:pPr/>
              <a:t>7</a:t>
            </a:fld>
            <a:endParaRPr kumimoji="0" lang="en-US" altLang="en-US" sz="1200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D3BA66C8-F850-93E9-136C-0A97AA8E3A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B6B3C156-AB18-F5F6-F2B2-830F29E14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44EE0D0-F591-50F4-6DA8-1C2BAF6FAB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4063" indent="-2889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58875" indent="-231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24013" indent="-231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87563" indent="-231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44763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1963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59163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16363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7F8A4C-039D-4A58-B36B-8477C13EB4E1}" type="slidenum">
              <a:rPr kumimoji="0" lang="en-US" altLang="en-US" sz="1200"/>
              <a:pPr/>
              <a:t>8</a:t>
            </a:fld>
            <a:endParaRPr kumimoji="0" lang="en-US" altLang="en-US" sz="12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D6022A7C-3CCE-ECA6-0477-7CBDCA3168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B07C0E19-8792-6187-C485-30B0C2CBA0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68D7C3-E929-4EA7-A08B-4B53A495A0F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687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CF3F7B-146D-4784-9CE3-DDE5670EC105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701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3FF-9141-45E8-B755-E24412292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A5BA-64EF-4BEF-A77D-59421F1CC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74BA-0BF1-464A-A206-139518D5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1B8-AD85-425D-A891-7F7F61302E2F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5264-C8F3-454B-A2E8-F18608F5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07D2-BE6D-49D3-B82D-F52DAF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6E4-58FD-4F5E-8EF0-25336D49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AE46-2D00-4EA2-BB3E-0D91A14A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BC85-5AB3-4E0B-B666-19AC052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C1C3-5378-46F6-AA21-02B58FE971C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C114-8F75-43E7-979F-EF5C2001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C484-0E3A-44EA-8559-A22A2FCB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F1BBE439-A689-4E67-A7FC-21353A5E32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70D6A-3FD7-42FD-A476-85B1F00CAE4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847-C3B2-4062-A312-8470639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1D18-4B57-451B-BCCE-6270B470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8026-920F-41C1-B09C-9C3AEC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A5E-9C33-4F86-80D9-4BAED091142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277F-A567-4DE2-9069-3486F08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B2B2-8F13-43E4-8DBE-5E0DC650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2885-D6AE-444D-9E93-D461D38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F0B0-7675-4CB4-B1F3-D1239E0E6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5491B-C40B-49C8-B56B-A1623FEF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47DA-E47F-4B79-A90B-AFF638B1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02CB-F384-4A4C-82B8-79D60BFA27C5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053-2487-412D-BFB4-93DBFC6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22E3A-B41E-4F6A-88ED-78DFFE1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6F89-A02B-4132-8774-A1395D1B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62E5F-CA6C-4EDF-BD48-366EC90FF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0677-BED7-4216-8A86-EA73D3E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6D05D-3447-4084-824C-10B640171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72110-AAE1-4116-8304-1279B9FEB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B4AC0-DA9C-4B3B-B738-64DA18BE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1134-CF07-4806-AC2D-C4CF86D8AF9B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0346-E7CA-49D4-9F16-C51CE876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20EDF-1961-4C69-B624-FB250EC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C67B-7AEC-4DE3-B0C0-3F3AAE2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88C5-E58C-49CE-995A-8C22DF6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7434-8F23-4DD5-BD51-853123BE4FA3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5AB5-AB00-4E48-9ACA-C9C8EF7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7664E-F5E7-44AA-8CB8-05E72BB2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02297-8E8E-4AB4-9D68-4806C3D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706E-2165-4BB6-98D7-C9EE277D9AF2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121-2BB3-4C47-A8BB-0235FCC1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7427-D0DA-442F-8D0D-0CDCA9E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5488-B7DC-4233-9CF4-2BAB6D2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22CB-FD0D-48BF-BEE0-48F522DA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F1D7-322A-4F2D-B449-0B75EDAF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572E-12A5-4C6D-A0BD-E26583C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49A3-5F0E-45E0-B660-E2BE0FDEF0DF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9001-C117-4F23-B486-FA2667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58DF-A1AA-4DBF-A169-6C121FC4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F773-E3C1-45FC-89A6-256624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4D61-5EDE-4C65-9A9B-95B9E159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76EE-E80C-4D2F-BF09-A2C53CFB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E148-6E35-4ACE-AA60-7DB5D026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3D22-82D8-46A7-A4C0-7A6FA54084BE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866B-8263-405B-9B0A-014EF75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C9C8-57C6-442E-9CD2-DE1361F9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A2-750B-4770-9615-DBF50FDE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B329-366B-4364-B3DD-6B02391C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2620-E180-41CB-8196-DC02A9A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004B-D373-4ACF-8E4D-48BE0C605F2C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9B56-7EC3-4CAC-A2B1-D41860A0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C05D-D514-433F-BF5B-B3AF249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BD37-5EEC-4278-9EE0-DEDA685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4F55-9B66-4AF7-861C-2816F30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022F-DB20-48FF-B7DE-A7D6AE7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5FD9-FC47-40E4-9D7D-6C72459C26E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F91C-FF26-425A-85F3-7D114B00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104-020C-4293-8961-D68B124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FB313-169D-44B0-B14E-EBFDCD9F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43F3-FEEE-4505-B1D8-82EAFD1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9A35-A1B8-43A6-9D9A-6497217D9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2897B-F47E-49C0-A30B-118D7B86E5F3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52CA-23CF-4E6B-ADFB-73587FFDB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351-54FE-4C8D-8888-FAE1CFCA2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if"/><Relationship Id="rId3" Type="http://schemas.openxmlformats.org/officeDocument/2006/relationships/image" Target="../media/image4.tif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tif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tif"/><Relationship Id="rId5" Type="http://schemas.openxmlformats.org/officeDocument/2006/relationships/image" Target="../media/image10.tif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5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5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microsoft.com/office/2007/relationships/hdphoto" Target="../media/hdphoto1.wdp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2.wmf"/><Relationship Id="rId10" Type="http://schemas.openxmlformats.org/officeDocument/2006/relationships/image" Target="../media/image45.png"/><Relationship Id="rId4" Type="http://schemas.openxmlformats.org/officeDocument/2006/relationships/oleObject" Target="../embeddings/oleObject5.bin"/><Relationship Id="rId9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ra.medium.com/drawing-anything-with-fourier-series-using-blender-and-python-c0881e1b738c" TargetMode="External"/><Relationship Id="rId2" Type="http://schemas.openxmlformats.org/officeDocument/2006/relationships/hyperlink" Target="https://github.com/Grzetan/ImageToFourierSer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2EB1E-AE7D-4CC4-A870-7B3A94A884E7}"/>
              </a:ext>
            </a:extLst>
          </p:cNvPr>
          <p:cNvSpPr txBox="1">
            <a:spLocks/>
          </p:cNvSpPr>
          <p:nvPr/>
        </p:nvSpPr>
        <p:spPr>
          <a:xfrm>
            <a:off x="1524000" y="78170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4102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 and Image Processing Laboratory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3: Image Restoration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AB50B-0179-40F3-A610-EF4D08807941}"/>
              </a:ext>
            </a:extLst>
          </p:cNvPr>
          <p:cNvSpPr txBox="1"/>
          <p:nvPr/>
        </p:nvSpPr>
        <p:spPr>
          <a:xfrm>
            <a:off x="1180668" y="4162662"/>
            <a:ext cx="2849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 Tajmilur Rahman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9293B8-AE69-4EB7-8E1B-F058A1AF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CCFED-797A-4932-ABA4-0D47562EADE1}"/>
              </a:ext>
            </a:extLst>
          </p:cNvPr>
          <p:cNvSpPr txBox="1"/>
          <p:nvPr/>
        </p:nvSpPr>
        <p:spPr>
          <a:xfrm>
            <a:off x="7439269" y="4332990"/>
            <a:ext cx="36794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 </a:t>
            </a:r>
            <a:r>
              <a:rPr lang="en-US" sz="2400" b="1" dirty="0" err="1"/>
              <a:t>Mubtashim</a:t>
            </a:r>
            <a:r>
              <a:rPr lang="en-US" sz="2400" b="1" dirty="0"/>
              <a:t> Abrar Nihal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</p:spTree>
    <p:extLst>
      <p:ext uri="{BB962C8B-B14F-4D97-AF65-F5344CB8AC3E}">
        <p14:creationId xmlns:p14="http://schemas.microsoft.com/office/powerpoint/2010/main" val="124718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0DEA-8FCE-42FF-8837-8728796B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We are Going to Do Today?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FB294-C5BF-4B80-86CB-DE357320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2" descr="https://lh6.googleusercontent.com/rBNcKv1Jt3jklQpHAxIJeUe9XSwkwATeILnRWGRhqO-1axwYjgRjuITnt3hw0uXbJNilfav9zvKuz_-U8OFWXmHFxHVW_UOOJqCIybOZJqM3RA-GdkIHirrSv_t14jG5uoaI5VepQhvyIuioN-ekUg=s2048">
            <a:extLst>
              <a:ext uri="{FF2B5EF4-FFF2-40B4-BE49-F238E27FC236}">
                <a16:creationId xmlns:a16="http://schemas.microsoft.com/office/drawing/2014/main" id="{E1274682-E44A-4D7C-80DB-B96E3BA854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08" y="1211147"/>
            <a:ext cx="2663174" cy="542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lh5.googleusercontent.com/YInDKsG0BIdRJ3CAl0jItZBSDAM0npl1zvp2JWr251VqpDK93F1GUUYFemTjf0amGXEpih1u5D6T6yNvjP_1nLn2Qv2IiVpeOmX-3cAhMS5bSglQEAznysM57mIcOYL3INGxviqGCse6pxDhiX1eIQ=s2048">
            <a:extLst>
              <a:ext uri="{FF2B5EF4-FFF2-40B4-BE49-F238E27FC236}">
                <a16:creationId xmlns:a16="http://schemas.microsoft.com/office/drawing/2014/main" id="{70DF10E1-46D7-4C84-BDF1-086C0F0C69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57"/>
          <a:stretch/>
        </p:blipFill>
        <p:spPr bwMode="auto">
          <a:xfrm>
            <a:off x="8508162" y="1167238"/>
            <a:ext cx="2743200" cy="550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76D832-A5A0-4B63-B986-90DAC623FBC1}"/>
              </a:ext>
            </a:extLst>
          </p:cNvPr>
          <p:cNvSpPr txBox="1"/>
          <p:nvPr/>
        </p:nvSpPr>
        <p:spPr>
          <a:xfrm>
            <a:off x="4164433" y="1741890"/>
            <a:ext cx="3612777" cy="45243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the image from spatial domain to frequency domain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frequency of the periodic noise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that frequency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 the image from frequency domain to spatial domain</a:t>
            </a:r>
          </a:p>
        </p:txBody>
      </p:sp>
    </p:spTree>
    <p:extLst>
      <p:ext uri="{BB962C8B-B14F-4D97-AF65-F5344CB8AC3E}">
        <p14:creationId xmlns:p14="http://schemas.microsoft.com/office/powerpoint/2010/main" val="305123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Examples</a:t>
            </a:r>
            <a:endParaRPr dirty="0"/>
          </a:p>
        </p:txBody>
      </p:sp>
      <p:grpSp>
        <p:nvGrpSpPr>
          <p:cNvPr id="5" name="Group 4"/>
          <p:cNvGrpSpPr/>
          <p:nvPr/>
        </p:nvGrpSpPr>
        <p:grpSpPr>
          <a:xfrm>
            <a:off x="1956273" y="1454107"/>
            <a:ext cx="8826029" cy="4546645"/>
            <a:chOff x="1373386" y="1921847"/>
            <a:chExt cx="7499152" cy="3863117"/>
          </a:xfrm>
        </p:grpSpPr>
        <p:pic>
          <p:nvPicPr>
            <p:cNvPr id="261" name="droppedImage.pdf" descr="droppedImage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1517" y="2332473"/>
              <a:ext cx="1526977" cy="130332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62" name="droppedImage.tiff" descr="droppedImage.tif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1332" y="3912733"/>
              <a:ext cx="1607345" cy="1607345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" name="Group 1"/>
            <p:cNvGrpSpPr/>
            <p:nvPr/>
          </p:nvGrpSpPr>
          <p:grpSpPr>
            <a:xfrm>
              <a:off x="1446054" y="1921847"/>
              <a:ext cx="6251892" cy="239304"/>
              <a:chOff x="1922225" y="1419460"/>
              <a:chExt cx="8335856" cy="319072"/>
            </a:xfrm>
          </p:grpSpPr>
          <p:sp>
            <p:nvSpPr>
              <p:cNvPr id="264" name="Spatial domain visualization"/>
              <p:cNvSpPr txBox="1"/>
              <p:nvPr/>
            </p:nvSpPr>
            <p:spPr>
              <a:xfrm>
                <a:off x="1922225" y="1419460"/>
                <a:ext cx="3875973" cy="31907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2301" tIns="2301" rIns="2301" bIns="2301" anchor="ctr">
                <a:spAutoFit/>
              </a:bodyPr>
              <a:lstStyle/>
              <a:p>
                <a:pPr algn="ctr" defTabSz="230378" eaLnBrk="1" fontAlgn="auto" hangingPunct="1">
                  <a:spcBef>
                    <a:spcPts val="0"/>
                  </a:spcBef>
                  <a:spcAft>
                    <a:spcPts val="0"/>
                  </a:spcAft>
                  <a:defRPr sz="1800">
                    <a:latin typeface="Gill Sans"/>
                    <a:ea typeface="Gill Sans"/>
                    <a:cs typeface="Gill Sans"/>
                    <a:sym typeface="Gill Sans"/>
                  </a:defRPr>
                </a:pPr>
                <a:r>
                  <a:rPr sz="1800" dirty="0">
                    <a:solidFill>
                      <a:prstClr val="black"/>
                    </a:solidFill>
                    <a:latin typeface="Calibri Light" panose="020F0302020204030204"/>
                    <a:sym typeface="Gill Sans"/>
                  </a:rPr>
                  <a:t>Spatial domain visualization</a:t>
                </a:r>
              </a:p>
            </p:txBody>
          </p:sp>
          <p:sp>
            <p:nvSpPr>
              <p:cNvPr id="265" name="Frequency domain visualization"/>
              <p:cNvSpPr txBox="1"/>
              <p:nvPr/>
            </p:nvSpPr>
            <p:spPr>
              <a:xfrm>
                <a:off x="5798198" y="1419460"/>
                <a:ext cx="4459883" cy="31907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2301" tIns="2301" rIns="2301" bIns="2301" anchor="ctr">
                <a:spAutoFit/>
              </a:bodyPr>
              <a:lstStyle/>
              <a:p>
                <a:pPr algn="ctr" defTabSz="230378" eaLnBrk="1" fontAlgn="auto" hangingPunct="1">
                  <a:spcBef>
                    <a:spcPts val="0"/>
                  </a:spcBef>
                  <a:spcAft>
                    <a:spcPts val="0"/>
                  </a:spcAft>
                  <a:defRPr sz="1800">
                    <a:latin typeface="Gill Sans"/>
                    <a:ea typeface="Gill Sans"/>
                    <a:cs typeface="Gill Sans"/>
                    <a:sym typeface="Gill Sans"/>
                  </a:defRPr>
                </a:pPr>
                <a:r>
                  <a:rPr sz="1800" dirty="0">
                    <a:solidFill>
                      <a:prstClr val="black"/>
                    </a:solidFill>
                    <a:latin typeface="Calibri Light" panose="020F0302020204030204"/>
                    <a:sym typeface="Gill Sans"/>
                  </a:rPr>
                  <a:t>Frequency domain visualization</a:t>
                </a:r>
              </a:p>
            </p:txBody>
          </p:sp>
        </p:grpSp>
        <p:sp>
          <p:nvSpPr>
            <p:cNvPr id="266" name="1D"/>
            <p:cNvSpPr txBox="1"/>
            <p:nvPr/>
          </p:nvSpPr>
          <p:spPr>
            <a:xfrm>
              <a:off x="1373386" y="2864486"/>
              <a:ext cx="476846" cy="23930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301" tIns="2301" rIns="2301" bIns="2301" anchor="ctr">
              <a:spAutoFit/>
            </a:bodyPr>
            <a:lstStyle>
              <a:lvl1pPr defTabSz="436880">
                <a:defRPr sz="1800" b="1">
                  <a:solidFill>
                    <a:srgbClr val="0433FF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algn="ctr" defTabSz="327660" eaLnBrk="1" fontAlgn="auto" hangingPunct="1">
                <a:spcBef>
                  <a:spcPts val="0"/>
                </a:spcBef>
                <a:spcAft>
                  <a:spcPts val="0"/>
                </a:spcAft>
                <a:defRPr b="0">
                  <a:solidFill>
                    <a:srgbClr val="000000"/>
                  </a:solidFill>
                </a:defRPr>
              </a:pPr>
              <a:r>
                <a:rPr b="0" dirty="0">
                  <a:solidFill>
                    <a:srgbClr val="000000"/>
                  </a:solidFill>
                  <a:latin typeface="Calibri Light" panose="020F0302020204030204"/>
                </a:rPr>
                <a:t>1D</a:t>
              </a:r>
            </a:p>
          </p:txBody>
        </p:sp>
        <p:sp>
          <p:nvSpPr>
            <p:cNvPr id="267" name="2D"/>
            <p:cNvSpPr txBox="1"/>
            <p:nvPr/>
          </p:nvSpPr>
          <p:spPr>
            <a:xfrm>
              <a:off x="1373386" y="4596754"/>
              <a:ext cx="476846" cy="23930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301" tIns="2301" rIns="2301" bIns="2301" anchor="ctr">
              <a:spAutoFit/>
            </a:bodyPr>
            <a:lstStyle>
              <a:lvl1pPr defTabSz="436880">
                <a:defRPr sz="1800" b="1">
                  <a:solidFill>
                    <a:srgbClr val="0433FF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algn="ctr" defTabSz="327660" eaLnBrk="1" fontAlgn="auto" hangingPunct="1">
                <a:spcBef>
                  <a:spcPts val="0"/>
                </a:spcBef>
                <a:spcAft>
                  <a:spcPts val="0"/>
                </a:spcAft>
                <a:defRPr b="0">
                  <a:solidFill>
                    <a:srgbClr val="000000"/>
                  </a:solidFill>
                </a:defRPr>
              </a:pPr>
              <a:r>
                <a:rPr b="0">
                  <a:solidFill>
                    <a:srgbClr val="000000"/>
                  </a:solidFill>
                  <a:latin typeface="Calibri Light" panose="020F0302020204030204"/>
                </a:rPr>
                <a:t>2D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4915331" y="2315070"/>
              <a:ext cx="2220314" cy="1338136"/>
              <a:chOff x="6538140" y="1950540"/>
              <a:chExt cx="2960418" cy="1784181"/>
            </a:xfrm>
          </p:grpSpPr>
          <p:sp>
            <p:nvSpPr>
              <p:cNvPr id="268" name="Line"/>
              <p:cNvSpPr/>
              <p:nvPr/>
            </p:nvSpPr>
            <p:spPr>
              <a:xfrm>
                <a:off x="6538140" y="3727577"/>
                <a:ext cx="2960418" cy="1"/>
              </a:xfrm>
              <a:prstGeom prst="line">
                <a:avLst/>
              </a:prstGeom>
              <a:ln w="3175">
                <a:solidFill>
                  <a:srgbClr val="000000"/>
                </a:solidFill>
                <a:miter lim="400000"/>
                <a:tailEnd type="triangle"/>
              </a:ln>
            </p:spPr>
            <p:txBody>
              <a:bodyPr lIns="2301" tIns="2301" rIns="2301" bIns="2301" anchor="ctr"/>
              <a:lstStyle/>
              <a:p>
                <a:pPr defTabSz="241093" eaLnBrk="1" fontAlgn="auto" hangingPunct="1">
                  <a:spcBef>
                    <a:spcPts val="0"/>
                  </a:spcBef>
                  <a:spcAft>
                    <a:spcPts val="0"/>
                  </a:spcAft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800">
                  <a:solidFill>
                    <a:prstClr val="black"/>
                  </a:solidFill>
                  <a:latin typeface="Calibri Light" panose="020F0302020204030204"/>
                  <a:cs typeface="Helvetica"/>
                  <a:sym typeface="Helvetica"/>
                </a:endParaRPr>
              </a:p>
            </p:txBody>
          </p:sp>
          <p:sp>
            <p:nvSpPr>
              <p:cNvPr id="269" name="Line"/>
              <p:cNvSpPr/>
              <p:nvPr/>
            </p:nvSpPr>
            <p:spPr>
              <a:xfrm flipV="1">
                <a:off x="6548189" y="1950540"/>
                <a:ext cx="1" cy="1784181"/>
              </a:xfrm>
              <a:prstGeom prst="line">
                <a:avLst/>
              </a:prstGeom>
              <a:ln w="3175">
                <a:solidFill>
                  <a:srgbClr val="000000"/>
                </a:solidFill>
                <a:miter lim="400000"/>
                <a:tailEnd type="triangle"/>
              </a:ln>
            </p:spPr>
            <p:txBody>
              <a:bodyPr lIns="2301" tIns="2301" rIns="2301" bIns="2301" anchor="ctr"/>
              <a:lstStyle/>
              <a:p>
                <a:pPr defTabSz="241093" eaLnBrk="1" fontAlgn="auto" hangingPunct="1">
                  <a:spcBef>
                    <a:spcPts val="0"/>
                  </a:spcBef>
                  <a:spcAft>
                    <a:spcPts val="0"/>
                  </a:spcAft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800">
                  <a:solidFill>
                    <a:prstClr val="black"/>
                  </a:solidFill>
                  <a:latin typeface="Calibri Light" panose="020F0302020204030204"/>
                  <a:cs typeface="Helvetica"/>
                  <a:sym typeface="Helvetica"/>
                </a:endParaRPr>
              </a:p>
            </p:txBody>
          </p:sp>
          <p:sp>
            <p:nvSpPr>
              <p:cNvPr id="270" name="Line"/>
              <p:cNvSpPr/>
              <p:nvPr/>
            </p:nvSpPr>
            <p:spPr>
              <a:xfrm>
                <a:off x="7133977" y="1970214"/>
                <a:ext cx="0" cy="1753519"/>
              </a:xfrm>
              <a:prstGeom prst="line">
                <a:avLst/>
              </a:prstGeom>
              <a:ln w="50800">
                <a:solidFill>
                  <a:srgbClr val="4F8F00"/>
                </a:solidFill>
                <a:miter lim="400000"/>
              </a:ln>
            </p:spPr>
            <p:txBody>
              <a:bodyPr lIns="2301" tIns="2301" rIns="2301" bIns="2301" anchor="ctr"/>
              <a:lstStyle/>
              <a:p>
                <a:pPr defTabSz="241093" eaLnBrk="1" fontAlgn="auto" hangingPunct="1">
                  <a:spcBef>
                    <a:spcPts val="0"/>
                  </a:spcBef>
                  <a:spcAft>
                    <a:spcPts val="0"/>
                  </a:spcAft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800">
                  <a:solidFill>
                    <a:prstClr val="black"/>
                  </a:solidFill>
                  <a:latin typeface="Calibri Light" panose="020F0302020204030204"/>
                  <a:cs typeface="Helvetica"/>
                  <a:sym typeface="Helvetica"/>
                </a:endParaRPr>
              </a:p>
            </p:txBody>
          </p:sp>
        </p:grpSp>
        <p:pic>
          <p:nvPicPr>
            <p:cNvPr id="271" name="droppedImage.pdf" descr="droppedImage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7149" y="3583282"/>
              <a:ext cx="91083" cy="139304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73" name="droppedImage.pdf" descr="droppedImage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9763" y="5613513"/>
              <a:ext cx="171451" cy="1714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74" name="droppedImage.pdf" descr="droppedImage.pdf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03605" y="4617286"/>
              <a:ext cx="171451" cy="19823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0" name="droppedImage.pdf" descr="droppedImage.pdf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76574" y="2329825"/>
              <a:ext cx="344059" cy="144662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1" name="Need to understand this to understand the 2D version..."/>
            <p:cNvSpPr txBox="1"/>
            <p:nvPr/>
          </p:nvSpPr>
          <p:spPr>
            <a:xfrm>
              <a:off x="7051923" y="4517189"/>
              <a:ext cx="1820615" cy="39843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96" tIns="3596" rIns="3596" bIns="3596" anchor="ctr">
              <a:spAutoFit/>
            </a:bodyPr>
            <a:lstStyle>
              <a:lvl1pPr defTabSz="436880">
                <a:defRPr sz="1800">
                  <a:solidFill>
                    <a:srgbClr val="009051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algn="ctr" defTabSz="32766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 dirty="0">
                  <a:solidFill>
                    <a:prstClr val="black"/>
                  </a:solidFill>
                  <a:latin typeface="Calibri Light" panose="020F0302020204030204"/>
                </a:rPr>
                <a:t>What do the three dots correspond to?</a:t>
              </a:r>
              <a:endParaRPr sz="1500" dirty="0">
                <a:solidFill>
                  <a:prstClr val="black"/>
                </a:solidFill>
                <a:latin typeface="Calibri Light" panose="020F0302020204030204"/>
              </a:endParaRPr>
            </a:p>
          </p:txBody>
        </p:sp>
        <p:pic>
          <p:nvPicPr>
            <p:cNvPr id="26" name="droppedImage.tiff" descr="droppedImage.tiff"/>
            <p:cNvPicPr>
              <a:picLocks noChangeAspect="1"/>
            </p:cNvPicPr>
            <p:nvPr/>
          </p:nvPicPr>
          <p:blipFill rotWithShape="1">
            <a:blip r:embed="rId8"/>
            <a:srcRect l="23449" t="23449" r="23449" b="23449"/>
            <a:stretch/>
          </p:blipFill>
          <p:spPr>
            <a:xfrm>
              <a:off x="5221817" y="3906965"/>
              <a:ext cx="1613112" cy="161311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79AF4-5A39-DB6E-AF57-67C2F36B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3C9EE04-9982-4FBB-AF3E-ADA0C6525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8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67"/>
          <p:cNvSpPr>
            <a:spLocks noGrp="1"/>
          </p:cNvSpPr>
          <p:nvPr>
            <p:ph type="title"/>
          </p:nvPr>
        </p:nvSpPr>
        <p:spPr>
          <a:xfrm>
            <a:off x="2375646" y="104381"/>
            <a:ext cx="7264341" cy="86894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Examples</a:t>
            </a:r>
            <a:endParaRPr dirty="0"/>
          </a:p>
        </p:txBody>
      </p:sp>
      <p:pic>
        <p:nvPicPr>
          <p:cNvPr id="262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106" y="4027613"/>
            <a:ext cx="2429941" cy="242994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/>
          <p:cNvGrpSpPr/>
          <p:nvPr/>
        </p:nvGrpSpPr>
        <p:grpSpPr>
          <a:xfrm>
            <a:off x="1497592" y="1057908"/>
            <a:ext cx="9451441" cy="281646"/>
            <a:chOff x="1922225" y="1454794"/>
            <a:chExt cx="8335856" cy="248402"/>
          </a:xfrm>
        </p:grpSpPr>
        <p:sp>
          <p:nvSpPr>
            <p:cNvPr id="264" name="Spatial domain visualization"/>
            <p:cNvSpPr txBox="1"/>
            <p:nvPr/>
          </p:nvSpPr>
          <p:spPr>
            <a:xfrm>
              <a:off x="1922225" y="1454794"/>
              <a:ext cx="3875973" cy="2484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2301" tIns="2301" rIns="2301" bIns="2301" anchor="ctr">
              <a:spAutoFit/>
            </a:bodyPr>
            <a:lstStyle/>
            <a:p>
              <a:pPr algn="ctr" defTabSz="230378" eaLnBrk="1" fontAlgn="auto" hangingPunct="1">
                <a:spcBef>
                  <a:spcPts val="0"/>
                </a:spcBef>
                <a:spcAft>
                  <a:spcPts val="0"/>
                </a:spcAft>
                <a:defRPr sz="1800"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rPr sz="1800" dirty="0">
                  <a:solidFill>
                    <a:prstClr val="black"/>
                  </a:solidFill>
                  <a:latin typeface="Calibri Light" panose="020F0302020204030204"/>
                  <a:sym typeface="Gill Sans"/>
                </a:rPr>
                <a:t>Spatial domain visualization</a:t>
              </a:r>
            </a:p>
          </p:txBody>
        </p:sp>
        <p:sp>
          <p:nvSpPr>
            <p:cNvPr id="265" name="Frequency domain visualization"/>
            <p:cNvSpPr txBox="1"/>
            <p:nvPr/>
          </p:nvSpPr>
          <p:spPr>
            <a:xfrm>
              <a:off x="5798198" y="1454794"/>
              <a:ext cx="4459883" cy="2484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2301" tIns="2301" rIns="2301" bIns="2301" anchor="ctr">
              <a:spAutoFit/>
            </a:bodyPr>
            <a:lstStyle/>
            <a:p>
              <a:pPr algn="ctr" defTabSz="230378" eaLnBrk="1" fontAlgn="auto" hangingPunct="1">
                <a:spcBef>
                  <a:spcPts val="0"/>
                </a:spcBef>
                <a:spcAft>
                  <a:spcPts val="0"/>
                </a:spcAft>
                <a:defRPr sz="1800"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rPr sz="1800" dirty="0">
                  <a:solidFill>
                    <a:prstClr val="black"/>
                  </a:solidFill>
                  <a:latin typeface="Calibri Light" panose="020F0302020204030204"/>
                  <a:sym typeface="Gill Sans"/>
                </a:rPr>
                <a:t>Frequency domain visualization</a:t>
              </a:r>
            </a:p>
          </p:txBody>
        </p:sp>
      </p:grpSp>
      <p:pic>
        <p:nvPicPr>
          <p:cNvPr id="273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060" y="6598806"/>
            <a:ext cx="259195" cy="2591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droppedImage.pdf" descr="dropped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24" y="5092736"/>
            <a:ext cx="259195" cy="2996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droppedImage.tiff" descr="droppedImage.ti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106" y="1504646"/>
            <a:ext cx="2429941" cy="2429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droppedImage.tiff" descr="droppedImage.tiff"/>
          <p:cNvPicPr>
            <a:picLocks noChangeAspect="1"/>
          </p:cNvPicPr>
          <p:nvPr/>
        </p:nvPicPr>
        <p:blipFill rotWithShape="1">
          <a:blip r:embed="rId6"/>
          <a:srcRect l="23449" t="23449" r="23449" b="23449"/>
          <a:stretch/>
        </p:blipFill>
        <p:spPr>
          <a:xfrm>
            <a:off x="7205688" y="4018893"/>
            <a:ext cx="2438659" cy="2438659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?"/>
          <p:cNvSpPr txBox="1"/>
          <p:nvPr/>
        </p:nvSpPr>
        <p:spPr>
          <a:xfrm>
            <a:off x="8255383" y="2438115"/>
            <a:ext cx="217847" cy="558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301" tIns="2301" rIns="2301" bIns="2301" anchor="ctr">
            <a:spAutoFit/>
          </a:bodyPr>
          <a:lstStyle>
            <a:lvl1pPr defTabSz="436880">
              <a:defRPr sz="7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defTabSz="32766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3600" dirty="0">
                <a:solidFill>
                  <a:prstClr val="black"/>
                </a:solidFill>
                <a:latin typeface="Calibri Light" panose="020F0302020204030204"/>
              </a:rPr>
              <a:t>?</a:t>
            </a:r>
          </a:p>
        </p:txBody>
      </p:sp>
      <p:pic>
        <p:nvPicPr>
          <p:cNvPr id="16" name="droppedImage.tiff" descr="droppedImage.tiff"/>
          <p:cNvPicPr>
            <a:picLocks noChangeAspect="1"/>
          </p:cNvPicPr>
          <p:nvPr/>
        </p:nvPicPr>
        <p:blipFill rotWithShape="1">
          <a:blip r:embed="rId7"/>
          <a:srcRect l="23449" t="23449" r="23449" b="23449"/>
          <a:stretch/>
        </p:blipFill>
        <p:spPr>
          <a:xfrm>
            <a:off x="7201323" y="1508729"/>
            <a:ext cx="2438664" cy="243866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F1BD0C-D691-280D-4289-9BFBA34C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3C9EE04-9982-4FBB-AF3E-ADA0C65254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6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2D 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201271"/>
            <a:ext cx="11012096" cy="4975692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ea typeface="PMingLiU" pitchFamily="18" charset="-120"/>
              </a:rPr>
              <a:t>Forward transform</a:t>
            </a:r>
          </a:p>
          <a:p>
            <a:pPr lvl="1"/>
            <a:endParaRPr lang="en-US" altLang="zh-TW" sz="2400" dirty="0">
              <a:ea typeface="PMingLiU" pitchFamily="18" charset="-120"/>
            </a:endParaRPr>
          </a:p>
          <a:p>
            <a:pPr lvl="1"/>
            <a:endParaRPr lang="en-US" altLang="zh-TW" sz="2400" dirty="0">
              <a:ea typeface="PMingLiU" pitchFamily="18" charset="-120"/>
            </a:endParaRPr>
          </a:p>
          <a:p>
            <a:pPr lvl="1"/>
            <a:endParaRPr lang="en-US" altLang="zh-TW" sz="2400" dirty="0">
              <a:ea typeface="PMingLiU" pitchFamily="18" charset="-120"/>
            </a:endParaRPr>
          </a:p>
          <a:p>
            <a:pPr lvl="1"/>
            <a:endParaRPr lang="en-US" altLang="zh-TW" sz="1600" dirty="0">
              <a:ea typeface="PMingLiU" pitchFamily="18" charset="-120"/>
            </a:endParaRPr>
          </a:p>
          <a:p>
            <a:pPr lvl="1"/>
            <a:endParaRPr lang="en-US" altLang="zh-TW" sz="1600" dirty="0">
              <a:ea typeface="PMingLiU" pitchFamily="18" charset="-120"/>
            </a:endParaRPr>
          </a:p>
          <a:p>
            <a:r>
              <a:rPr lang="en-US" altLang="zh-TW" sz="2800" dirty="0">
                <a:ea typeface="PMingLiU" pitchFamily="18" charset="-120"/>
              </a:rPr>
              <a:t>Inverse transform:</a:t>
            </a:r>
          </a:p>
          <a:p>
            <a:pPr lvl="1"/>
            <a:endParaRPr lang="en-US" altLang="zh-TW" sz="2400" dirty="0">
              <a:ea typeface="PMingLiU" pitchFamily="18" charset="-120"/>
            </a:endParaRPr>
          </a:p>
          <a:p>
            <a:pPr lvl="1"/>
            <a:endParaRPr lang="en-US" altLang="zh-TW" sz="3600" dirty="0">
              <a:ea typeface="PMingLiU" pitchFamily="18" charset="-120"/>
            </a:endParaRPr>
          </a:p>
          <a:p>
            <a:pPr lvl="2"/>
            <a:endParaRPr lang="en-US" altLang="zh-TW" sz="2000" i="1" dirty="0">
              <a:ea typeface="PMingLiU" pitchFamily="18" charset="-120"/>
            </a:endParaRPr>
          </a:p>
          <a:p>
            <a:pPr lvl="1"/>
            <a:r>
              <a:rPr lang="en-US" altLang="zh-TW" sz="2200" i="1" dirty="0">
                <a:ea typeface="PMingLiU" pitchFamily="18" charset="-120"/>
              </a:rPr>
              <a:t>u</a:t>
            </a:r>
            <a:r>
              <a:rPr lang="en-US" altLang="zh-TW" sz="2200" dirty="0">
                <a:ea typeface="PMingLiU" pitchFamily="18" charset="-120"/>
              </a:rPr>
              <a:t>, </a:t>
            </a:r>
            <a:r>
              <a:rPr lang="en-US" altLang="zh-TW" sz="2200" i="1" dirty="0">
                <a:ea typeface="PMingLiU" pitchFamily="18" charset="-120"/>
              </a:rPr>
              <a:t>v </a:t>
            </a:r>
            <a:r>
              <a:rPr lang="en-US" altLang="zh-TW" sz="2200" dirty="0">
                <a:ea typeface="PMingLiU" pitchFamily="18" charset="-120"/>
              </a:rPr>
              <a:t>: the transform or frequency variables</a:t>
            </a:r>
          </a:p>
          <a:p>
            <a:pPr lvl="1"/>
            <a:r>
              <a:rPr lang="en-US" altLang="zh-TW" sz="2200" i="1" dirty="0">
                <a:ea typeface="PMingLiU" pitchFamily="18" charset="-120"/>
              </a:rPr>
              <a:t>x</a:t>
            </a:r>
            <a:r>
              <a:rPr lang="en-US" altLang="zh-TW" sz="2200" dirty="0">
                <a:ea typeface="PMingLiU" pitchFamily="18" charset="-120"/>
              </a:rPr>
              <a:t>,</a:t>
            </a:r>
            <a:r>
              <a:rPr lang="en-US" altLang="zh-TW" sz="2200" i="1" dirty="0">
                <a:ea typeface="PMingLiU" pitchFamily="18" charset="-120"/>
              </a:rPr>
              <a:t> y</a:t>
            </a:r>
            <a:r>
              <a:rPr lang="en-US" altLang="zh-TW" sz="2200" dirty="0">
                <a:ea typeface="PMingLiU" pitchFamily="18" charset="-120"/>
              </a:rPr>
              <a:t> : the spatial or image variables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47F52-7F99-9522-5E90-94076327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3C9EE04-9982-4FBB-AF3E-ADA0C652546B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23076"/>
              </p:ext>
            </p:extLst>
          </p:nvPr>
        </p:nvGraphicFramePr>
        <p:xfrm>
          <a:off x="4290375" y="1114810"/>
          <a:ext cx="44434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Equation" r:id="rId3" imgW="2273040" imgH="444240" progId="Equation.3">
                  <p:embed/>
                </p:oleObj>
              </mc:Choice>
              <mc:Fallback>
                <p:oleObj name="Equation" r:id="rId3" imgW="2273040" imgH="444240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0375" y="1114810"/>
                        <a:ext cx="44434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394763"/>
              </p:ext>
            </p:extLst>
          </p:nvPr>
        </p:nvGraphicFramePr>
        <p:xfrm>
          <a:off x="3527471" y="3783001"/>
          <a:ext cx="4763222" cy="13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方程式" r:id="rId5" imgW="2387600" imgH="660400" progId="Equation.3">
                  <p:embed/>
                </p:oleObj>
              </mc:Choice>
              <mc:Fallback>
                <p:oleObj name="方程式" r:id="rId5" imgW="2387600" imgH="660400" progId="Equation.3">
                  <p:embed/>
                  <p:pic>
                    <p:nvPicPr>
                      <p:cNvPr id="8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71" y="3783001"/>
                        <a:ext cx="4763222" cy="131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938510"/>
              </p:ext>
            </p:extLst>
          </p:nvPr>
        </p:nvGraphicFramePr>
        <p:xfrm>
          <a:off x="3527471" y="2071221"/>
          <a:ext cx="5360988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方程式" r:id="rId7" imgW="2743200" imgH="660400" progId="Equation.3">
                  <p:embed/>
                </p:oleObj>
              </mc:Choice>
              <mc:Fallback>
                <p:oleObj name="方程式" r:id="rId7" imgW="2743200" imgH="660400" progId="Equation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71" y="2071221"/>
                        <a:ext cx="5360988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8888459" y="1160962"/>
            <a:ext cx="24939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NewRomanPSMT"/>
              </a:rPr>
              <a:t>a-periodic signal</a:t>
            </a:r>
            <a:br>
              <a:rPr lang="en-US" dirty="0">
                <a:solidFill>
                  <a:srgbClr val="000000"/>
                </a:solidFill>
                <a:latin typeface="TimesNewRomanPSMT"/>
              </a:rPr>
            </a:br>
            <a:r>
              <a:rPr lang="en-US" dirty="0">
                <a:solidFill>
                  <a:srgbClr val="000000"/>
                </a:solidFill>
                <a:latin typeface="TimesNewRomanPSMT"/>
              </a:rPr>
              <a:t>periodic transform</a:t>
            </a:r>
            <a:r>
              <a:rPr lang="en-US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3788" y="2180218"/>
            <a:ext cx="32396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NewRomanPSMT"/>
              </a:rPr>
              <a:t>periodized signal</a:t>
            </a:r>
            <a:br>
              <a:rPr lang="en-US" dirty="0">
                <a:solidFill>
                  <a:srgbClr val="000000"/>
                </a:solidFill>
                <a:latin typeface="TimesNewRomanPSMT"/>
              </a:rPr>
            </a:br>
            <a:r>
              <a:rPr lang="en-US" dirty="0">
                <a:solidFill>
                  <a:srgbClr val="000000"/>
                </a:solidFill>
                <a:latin typeface="TimesNewRomanPSMT"/>
              </a:rPr>
              <a:t>periodic and sampled transform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D9C-350C-483E-A6A2-EDEA7E43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2D Discrete 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7097-68AB-46E6-B63C-2016FA49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algn="l">
              <a:spcBef>
                <a:spcPts val="4200"/>
              </a:spcBef>
              <a:buSzPct val="14500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Represents an image in a frequency domain where the original image is represented in a spatial domain.</a:t>
            </a:r>
          </a:p>
          <a:p>
            <a:pPr marL="444500" indent="-444500" algn="l">
              <a:spcBef>
                <a:spcPts val="4200"/>
              </a:spcBef>
              <a:buSzPct val="14500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2D DFT converts an image into a complex array that consists of :</a:t>
            </a:r>
          </a:p>
          <a:p>
            <a:pPr marL="914400" lvl="4" indent="0">
              <a:lnSpc>
                <a:spcPct val="100000"/>
              </a:lnSpc>
              <a:buSzPct val="100000"/>
              <a:buAutoNum type="arabicPeriod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Power Spectrum</a:t>
            </a:r>
          </a:p>
          <a:p>
            <a:pPr marL="914400" lvl="4" indent="0">
              <a:lnSpc>
                <a:spcPct val="100000"/>
              </a:lnSpc>
              <a:buSzPct val="100000"/>
              <a:buAutoNum type="arabicPeriod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Phase Angle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79113-0370-4384-B7FA-44FA1BF2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89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84B0014D-B45B-C2EA-DD91-CD76AA450B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Magnitude and Phase of DFT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922F1F5-C877-C620-CE30-48EE5D52D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01271"/>
            <a:ext cx="10515600" cy="538778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What is more important?</a:t>
            </a:r>
          </a:p>
          <a:p>
            <a:pPr>
              <a:lnSpc>
                <a:spcPct val="80000"/>
              </a:lnSpc>
            </a:pPr>
            <a:endParaRPr lang="en-US" altLang="en-US" sz="2800" dirty="0"/>
          </a:p>
          <a:p>
            <a:pPr>
              <a:lnSpc>
                <a:spcPct val="80000"/>
              </a:lnSpc>
            </a:pPr>
            <a:endParaRPr lang="en-US" altLang="en-US" sz="2200" dirty="0"/>
          </a:p>
          <a:p>
            <a:pPr>
              <a:lnSpc>
                <a:spcPct val="80000"/>
              </a:lnSpc>
            </a:pPr>
            <a:endParaRPr lang="en-US" altLang="en-US" sz="2200" dirty="0"/>
          </a:p>
          <a:p>
            <a:pPr>
              <a:lnSpc>
                <a:spcPct val="80000"/>
              </a:lnSpc>
            </a:pPr>
            <a:endParaRPr lang="en-US" altLang="en-US" sz="2200" dirty="0"/>
          </a:p>
          <a:p>
            <a:pPr>
              <a:lnSpc>
                <a:spcPct val="80000"/>
              </a:lnSpc>
            </a:pPr>
            <a:endParaRPr lang="en-US" altLang="en-US" sz="2200" dirty="0"/>
          </a:p>
          <a:p>
            <a:pPr>
              <a:lnSpc>
                <a:spcPct val="80000"/>
              </a:lnSpc>
            </a:pPr>
            <a:endParaRPr lang="en-US" altLang="en-US" sz="2200" dirty="0"/>
          </a:p>
          <a:p>
            <a:pPr>
              <a:lnSpc>
                <a:spcPct val="80000"/>
              </a:lnSpc>
            </a:pPr>
            <a:endParaRPr lang="en-US" altLang="en-US" sz="2200" dirty="0"/>
          </a:p>
          <a:p>
            <a:pPr>
              <a:lnSpc>
                <a:spcPct val="80000"/>
              </a:lnSpc>
            </a:pPr>
            <a:endParaRPr lang="en-US" altLang="en-US" sz="2800" b="1" u="sng" dirty="0"/>
          </a:p>
          <a:p>
            <a:pPr>
              <a:lnSpc>
                <a:spcPct val="80000"/>
              </a:lnSpc>
            </a:pPr>
            <a:endParaRPr lang="en-US" altLang="en-US" sz="2800" b="1" u="sng" dirty="0"/>
          </a:p>
          <a:p>
            <a:pPr>
              <a:lnSpc>
                <a:spcPct val="80000"/>
              </a:lnSpc>
            </a:pPr>
            <a:endParaRPr lang="en-US" altLang="en-US" sz="2800" b="1" u="sng" dirty="0"/>
          </a:p>
          <a:p>
            <a:pPr marL="0" indent="0">
              <a:lnSpc>
                <a:spcPct val="80000"/>
              </a:lnSpc>
              <a:buNone/>
            </a:pPr>
            <a:endParaRPr lang="en-US" altLang="en-US" sz="2800" dirty="0">
              <a:solidFill>
                <a:srgbClr val="FF000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sz="2800" dirty="0">
              <a:solidFill>
                <a:srgbClr val="FF000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sz="2800" dirty="0">
              <a:solidFill>
                <a:srgbClr val="FF000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Hint</a:t>
            </a:r>
            <a:r>
              <a:rPr lang="en-US" altLang="en-US" sz="2800" dirty="0">
                <a:solidFill>
                  <a:srgbClr val="FFFF00"/>
                </a:solidFill>
              </a:rPr>
              <a:t>: </a:t>
            </a:r>
            <a:r>
              <a:rPr lang="en-US" altLang="en-US" sz="2800" dirty="0"/>
              <a:t>use the inverse 2D DFT to reconstruct the input image using only </a:t>
            </a:r>
            <a:r>
              <a:rPr lang="en-US" altLang="en-US" sz="2800" dirty="0">
                <a:solidFill>
                  <a:srgbClr val="FF0000"/>
                </a:solidFill>
              </a:rPr>
              <a:t>magnitude</a:t>
            </a:r>
            <a:r>
              <a:rPr lang="en-US" altLang="en-US" sz="2800" dirty="0"/>
              <a:t> or </a:t>
            </a:r>
            <a:r>
              <a:rPr lang="en-US" altLang="en-US" sz="2800" dirty="0">
                <a:solidFill>
                  <a:srgbClr val="FF0000"/>
                </a:solidFill>
              </a:rPr>
              <a:t>phase</a:t>
            </a:r>
            <a:r>
              <a:rPr lang="en-US" altLang="en-US" sz="2800" dirty="0"/>
              <a:t> information.</a:t>
            </a:r>
            <a:endParaRPr lang="en-US" altLang="en-US" sz="2200" dirty="0"/>
          </a:p>
          <a:p>
            <a:pPr>
              <a:lnSpc>
                <a:spcPct val="80000"/>
              </a:lnSpc>
            </a:pPr>
            <a:endParaRPr lang="en-US" altLang="en-US" sz="2200" dirty="0"/>
          </a:p>
        </p:txBody>
      </p:sp>
      <p:sp>
        <p:nvSpPr>
          <p:cNvPr id="113671" name="Text Box 7">
            <a:extLst>
              <a:ext uri="{FF2B5EF4-FFF2-40B4-BE49-F238E27FC236}">
                <a16:creationId xmlns:a16="http://schemas.microsoft.com/office/drawing/2014/main" id="{9E7EE041-CE73-BF31-9CCC-AAB7CFC76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570" y="5266129"/>
            <a:ext cx="1149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magnitude</a:t>
            </a:r>
          </a:p>
        </p:txBody>
      </p:sp>
      <p:sp>
        <p:nvSpPr>
          <p:cNvPr id="113672" name="Text Box 8">
            <a:extLst>
              <a:ext uri="{FF2B5EF4-FFF2-40B4-BE49-F238E27FC236}">
                <a16:creationId xmlns:a16="http://schemas.microsoft.com/office/drawing/2014/main" id="{0D9A13E7-5352-7EA2-BC3B-13BFA55D8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4388" y="5310321"/>
            <a:ext cx="70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phase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BDB0E-346A-0983-2985-76B33B90F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15" y="1600200"/>
            <a:ext cx="3657600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4E77F6-EA46-AC16-F2D2-C90596207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600200"/>
            <a:ext cx="36576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348DC-0B3A-FED3-77F2-583A96ADF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516" y="16002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EB05180D-E21B-8313-E27E-52D4344B2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Magnitude and Phase of DFT (cont’d)</a:t>
            </a:r>
          </a:p>
        </p:txBody>
      </p:sp>
      <p:sp>
        <p:nvSpPr>
          <p:cNvPr id="115717" name="Text Box 5">
            <a:extLst>
              <a:ext uri="{FF2B5EF4-FFF2-40B4-BE49-F238E27FC236}">
                <a16:creationId xmlns:a16="http://schemas.microsoft.com/office/drawing/2014/main" id="{6F61F848-39AE-C378-D90D-D4FAEAA1E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03" y="4734342"/>
            <a:ext cx="4524897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en-US" sz="2800" dirty="0">
                <a:latin typeface="+mj-lt"/>
              </a:rPr>
              <a:t>Reconstructed image using </a:t>
            </a:r>
            <a:r>
              <a:rPr lang="en-US" altLang="en-US" sz="2800" dirty="0">
                <a:solidFill>
                  <a:srgbClr val="FF0000"/>
                </a:solidFill>
                <a:latin typeface="+mj-lt"/>
              </a:rPr>
              <a:t>magnitude</a:t>
            </a:r>
            <a:r>
              <a:rPr lang="en-US" altLang="en-US" sz="28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altLang="en-US" sz="2800" dirty="0">
                <a:latin typeface="+mj-lt"/>
              </a:rPr>
              <a:t>only</a:t>
            </a:r>
          </a:p>
          <a:p>
            <a:pPr>
              <a:buFontTx/>
              <a:buNone/>
            </a:pPr>
            <a:r>
              <a:rPr lang="en-US" altLang="en-US" sz="2000" dirty="0">
                <a:latin typeface="+mj-lt"/>
              </a:rPr>
              <a:t>(i.e., magnitude determines the </a:t>
            </a:r>
          </a:p>
          <a:p>
            <a:pPr>
              <a:buFontTx/>
              <a:buNone/>
            </a:pPr>
            <a:r>
              <a:rPr lang="en-US" altLang="en-US" sz="2000" dirty="0">
                <a:latin typeface="+mj-lt"/>
              </a:rPr>
              <a:t>strength of each sinusoidal component)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+mj-lt"/>
            </a:endParaRPr>
          </a:p>
        </p:txBody>
      </p:sp>
      <p:sp>
        <p:nvSpPr>
          <p:cNvPr id="115719" name="Text Box 7">
            <a:extLst>
              <a:ext uri="{FF2B5EF4-FFF2-40B4-BE49-F238E27FC236}">
                <a16:creationId xmlns:a16="http://schemas.microsoft.com/office/drawing/2014/main" id="{783DFFE8-DAEF-3EBA-08D0-F9F7AD712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1467" y="4827578"/>
            <a:ext cx="501623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en-US" sz="2800" dirty="0">
                <a:latin typeface="+mj-lt"/>
              </a:rPr>
              <a:t>Reconstructed using </a:t>
            </a:r>
            <a:r>
              <a:rPr lang="en-US" altLang="en-US" sz="2800" dirty="0">
                <a:solidFill>
                  <a:srgbClr val="FF0000"/>
                </a:solidFill>
                <a:latin typeface="+mj-lt"/>
              </a:rPr>
              <a:t>phase</a:t>
            </a:r>
            <a:r>
              <a:rPr lang="en-US" altLang="en-US" sz="28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altLang="en-US" sz="2800" dirty="0">
                <a:latin typeface="+mj-lt"/>
              </a:rPr>
              <a:t>only</a:t>
            </a:r>
          </a:p>
          <a:p>
            <a:pPr>
              <a:buFontTx/>
              <a:buNone/>
            </a:pPr>
            <a:r>
              <a:rPr lang="en-US" altLang="en-US" sz="2000" dirty="0">
                <a:latin typeface="+mj-lt"/>
              </a:rPr>
              <a:t>(i.e., phase determines</a:t>
            </a:r>
          </a:p>
          <a:p>
            <a:pPr>
              <a:buFontTx/>
              <a:buNone/>
            </a:pPr>
            <a:r>
              <a:rPr lang="en-US" altLang="en-US" sz="2000" dirty="0">
                <a:latin typeface="+mj-lt"/>
              </a:rPr>
              <a:t>the phase of each sinusoidal component)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AC88D-FA87-2EA2-9281-9FC094B92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83" y="1130709"/>
            <a:ext cx="3657600" cy="365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8B1A72-FCBB-9053-8423-2F3FD7CB2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093" y="1130709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8DA3-40AB-4A96-B744-1E79BFEC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Fourier Transform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DC4D6-0901-49A2-B67F-9F5426EA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2" descr="https://lh6.googleusercontent.com/rBNcKv1Jt3jklQpHAxIJeUe9XSwkwATeILnRWGRhqO-1axwYjgRjuITnt3hw0uXbJNilfav9zvKuz_-U8OFWXmHFxHVW_UOOJqCIybOZJqM3RA-GdkIHirrSv_t14jG5uoaI5VepQhvyIuioN-ekUg=s2048">
            <a:extLst>
              <a:ext uri="{FF2B5EF4-FFF2-40B4-BE49-F238E27FC236}">
                <a16:creationId xmlns:a16="http://schemas.microsoft.com/office/drawing/2014/main" id="{0EF31D8D-DAD2-4AA8-A139-049AF1821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023" y="1160046"/>
            <a:ext cx="2720833" cy="5539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lh5.googleusercontent.com/YInDKsG0BIdRJ3CAl0jItZBSDAM0npl1zvp2JWr251VqpDK93F1GUUYFemTjf0amGXEpih1u5D6T6yNvjP_1nLn2Qv2IiVpeOmX-3cAhMS5bSglQEAznysM57mIcOYL3INGxviqGCse6pxDhiX1eIQ=s2048">
            <a:extLst>
              <a:ext uri="{FF2B5EF4-FFF2-40B4-BE49-F238E27FC236}">
                <a16:creationId xmlns:a16="http://schemas.microsoft.com/office/drawing/2014/main" id="{4002DB29-6C76-4FC1-A598-B60C26EE3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856" y="1162790"/>
            <a:ext cx="5422155" cy="555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134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05ED-4382-4288-B726-B2E43C84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Basics of Filtering in the Frequency Domain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2D4-3EE0-4FA7-899D-B439B1CA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Image Gallery" descr="Image Gallery">
            <a:extLst>
              <a:ext uri="{FF2B5EF4-FFF2-40B4-BE49-F238E27FC236}">
                <a16:creationId xmlns:a16="http://schemas.microsoft.com/office/drawing/2014/main" id="{07C71153-2CD4-446C-9DB2-D7ACC926BB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2" b="1951"/>
          <a:stretch>
            <a:fillRect/>
          </a:stretch>
        </p:blipFill>
        <p:spPr>
          <a:xfrm>
            <a:off x="4925444" y="4377070"/>
            <a:ext cx="2201796" cy="2115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 Gallery" descr="Image Gallery">
            <a:extLst>
              <a:ext uri="{FF2B5EF4-FFF2-40B4-BE49-F238E27FC236}">
                <a16:creationId xmlns:a16="http://schemas.microsoft.com/office/drawing/2014/main" id="{E6A2E655-4B39-47CE-80CF-11F3DCA4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4" b="1094"/>
          <a:stretch>
            <a:fillRect/>
          </a:stretch>
        </p:blipFill>
        <p:spPr>
          <a:xfrm>
            <a:off x="1178156" y="4384754"/>
            <a:ext cx="2201797" cy="21004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Screenshot 2023-05-08 at 7.58.38 AM.png" descr="Screenshot 2023-05-08 at 7.58.38 AM.png">
            <a:extLst>
              <a:ext uri="{FF2B5EF4-FFF2-40B4-BE49-F238E27FC236}">
                <a16:creationId xmlns:a16="http://schemas.microsoft.com/office/drawing/2014/main" id="{D5B57D9D-C317-4DFF-80A3-9A5E1975D3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06" b="8005"/>
          <a:stretch>
            <a:fillRect/>
          </a:stretch>
        </p:blipFill>
        <p:spPr>
          <a:xfrm>
            <a:off x="838200" y="1384582"/>
            <a:ext cx="7057894" cy="2913112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9" name="Spectrum moved into the centre">
            <a:extLst>
              <a:ext uri="{FF2B5EF4-FFF2-40B4-BE49-F238E27FC236}">
                <a16:creationId xmlns:a16="http://schemas.microsoft.com/office/drawing/2014/main" id="{050AF599-DB74-44B8-9EE8-664E52D204A5}"/>
              </a:ext>
            </a:extLst>
          </p:cNvPr>
          <p:cNvSpPr txBox="1"/>
          <p:nvPr/>
        </p:nvSpPr>
        <p:spPr>
          <a:xfrm>
            <a:off x="2194694" y="3998050"/>
            <a:ext cx="7057894" cy="3867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6200" tIns="76200" rIns="76200" bIns="76200" numCol="1" anchor="t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Spectrum moved into the </a:t>
            </a:r>
            <a:r>
              <a:rPr dirty="0" err="1"/>
              <a:t>centre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CAEAA8-B1B2-4AEA-B4F8-4B103F987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392" y="3643356"/>
            <a:ext cx="2548386" cy="2563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856F0C-5445-4C2B-9494-B436279D562A}"/>
              </a:ext>
            </a:extLst>
          </p:cNvPr>
          <p:cNvSpPr txBox="1"/>
          <p:nvPr/>
        </p:nvSpPr>
        <p:spPr>
          <a:xfrm>
            <a:off x="9146795" y="324433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1812716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91C1-8EE1-4BE2-BD37-819421FB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Basics of Filtering in the Frequency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DF05-08E2-40CC-A8D4-511CA5D0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1982800"/>
          </a:xfrm>
        </p:spPr>
        <p:txBody>
          <a:bodyPr/>
          <a:lstStyle/>
          <a:p>
            <a:r>
              <a:rPr lang="en-US" dirty="0"/>
              <a:t>To filter an image in the frequency domain: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F(</a:t>
            </a:r>
            <a:r>
              <a:rPr lang="en-US" dirty="0" err="1"/>
              <a:t>u,v</a:t>
            </a:r>
            <a:r>
              <a:rPr lang="en-US" dirty="0"/>
              <a:t>) by  DFT of the image f(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Multiply F(</a:t>
            </a:r>
            <a:r>
              <a:rPr lang="en-US" dirty="0" err="1"/>
              <a:t>u,v</a:t>
            </a:r>
            <a:r>
              <a:rPr lang="en-US" dirty="0"/>
              <a:t>) by a filter function 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the inverse DFT of the result 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6938F-4575-41CD-827D-C6331D45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D5EDB8CE-8AF5-44FC-80F0-3882936E1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99"/>
          <a:stretch/>
        </p:blipFill>
        <p:spPr bwMode="auto">
          <a:xfrm>
            <a:off x="1963205" y="2771864"/>
            <a:ext cx="8018995" cy="3584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75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D8EE-DB99-4DFE-973C-CE114D1A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9B811F-37B9-475F-9EEA-1AF00EF9B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955" b="1"/>
          <a:stretch/>
        </p:blipFill>
        <p:spPr>
          <a:xfrm>
            <a:off x="767088" y="1407459"/>
            <a:ext cx="11122386" cy="446442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2B836-3D97-4088-AD9D-41E1B5C8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876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B5D2-7EEC-43E2-A33C-5FEF2050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2C7BFA-0AE4-4ACC-BE44-FFCE9E683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811" y="1393696"/>
            <a:ext cx="7952087" cy="403999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BE198-A065-4C2C-ACEC-80C38CAA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ED563-1D23-473A-B034-9E3D9E455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811" y="5433688"/>
            <a:ext cx="10757647" cy="128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40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4345-1AB0-4FA4-9B4C-AC203620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 These Steps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DF06DB-AABC-4D7D-B6E8-D92CCC844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9232"/>
            <a:ext cx="6250342" cy="305669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F3746-817B-4191-B7D1-9049EFC0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F31FCB-1FBA-48A4-8AA3-6AA067BE4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211" y="2016437"/>
            <a:ext cx="4415117" cy="339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76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518C-0A88-4171-81C2-BAD67CF4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2A2CD6-C9D9-48A8-97E7-51B7A98E2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8551"/>
          <a:stretch/>
        </p:blipFill>
        <p:spPr>
          <a:xfrm>
            <a:off x="1062319" y="1719205"/>
            <a:ext cx="6541668" cy="41347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2C8E3-C847-4143-864E-36F15A51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9FA1C3E-88DA-4A28-AA4D-AA3CB4FF00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418"/>
          <a:stretch/>
        </p:blipFill>
        <p:spPr>
          <a:xfrm>
            <a:off x="7723093" y="1719205"/>
            <a:ext cx="3761323" cy="413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93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72A3-C818-4A81-A372-24E8E3A1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02F7-1D17-4D1A-ABE2-F40C70C1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C41D606-F8F6-4632-84C8-F36425C0D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24" y="4159250"/>
            <a:ext cx="2652668" cy="2668520"/>
          </a:xfrm>
          <a:prstGeom prst="rect">
            <a:avLst/>
          </a:prstGeom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BFA4DBF-F310-43D0-850D-2663F698849A}"/>
              </a:ext>
            </a:extLst>
          </p:cNvPr>
          <p:cNvCxnSpPr>
            <a:cxnSpLocks/>
          </p:cNvCxnSpPr>
          <p:nvPr/>
        </p:nvCxnSpPr>
        <p:spPr>
          <a:xfrm flipV="1">
            <a:off x="5462092" y="5220710"/>
            <a:ext cx="4998263" cy="1272165"/>
          </a:xfrm>
          <a:prstGeom prst="bentConnector3">
            <a:avLst>
              <a:gd name="adj1" fmla="val 1000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EB2E27-CA1B-46E9-BABD-E381F92A3862}"/>
              </a:ext>
            </a:extLst>
          </p:cNvPr>
          <p:cNvCxnSpPr>
            <a:cxnSpLocks/>
          </p:cNvCxnSpPr>
          <p:nvPr/>
        </p:nvCxnSpPr>
        <p:spPr>
          <a:xfrm flipV="1">
            <a:off x="8919937" y="5245736"/>
            <a:ext cx="1540418" cy="34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0B6822-B4C5-472D-BAD4-AA7188D6285D}"/>
              </a:ext>
            </a:extLst>
          </p:cNvPr>
          <p:cNvCxnSpPr>
            <a:cxnSpLocks/>
          </p:cNvCxnSpPr>
          <p:nvPr/>
        </p:nvCxnSpPr>
        <p:spPr>
          <a:xfrm>
            <a:off x="7570562" y="2835275"/>
            <a:ext cx="0" cy="593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BF4D28-196B-4F46-946A-254618531FE6}"/>
              </a:ext>
            </a:extLst>
          </p:cNvPr>
          <p:cNvCxnSpPr>
            <a:cxnSpLocks/>
          </p:cNvCxnSpPr>
          <p:nvPr/>
        </p:nvCxnSpPr>
        <p:spPr>
          <a:xfrm>
            <a:off x="5410743" y="2339346"/>
            <a:ext cx="2159819" cy="1059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3E650B-345C-4AB0-8CE1-1BBA50C9D7EA}"/>
              </a:ext>
            </a:extLst>
          </p:cNvPr>
          <p:cNvCxnSpPr/>
          <p:nvPr/>
        </p:nvCxnSpPr>
        <p:spPr>
          <a:xfrm flipV="1">
            <a:off x="2524760" y="3088640"/>
            <a:ext cx="233314" cy="807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9D178FE-5B1D-443C-ADFA-E58DA3D429F7}"/>
              </a:ext>
            </a:extLst>
          </p:cNvPr>
          <p:cNvCxnSpPr/>
          <p:nvPr/>
        </p:nvCxnSpPr>
        <p:spPr>
          <a:xfrm>
            <a:off x="2524760" y="3896360"/>
            <a:ext cx="284664" cy="909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656E226-AEB1-4148-A611-1EF50D140009}"/>
              </a:ext>
            </a:extLst>
          </p:cNvPr>
          <p:cNvSpPr txBox="1"/>
          <p:nvPr/>
        </p:nvSpPr>
        <p:spPr>
          <a:xfrm>
            <a:off x="1090235" y="1391684"/>
            <a:ext cx="1719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 spectrum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2DA87A-DE4D-4CD7-9A2F-0E1DA745C2EC}"/>
              </a:ext>
            </a:extLst>
          </p:cNvPr>
          <p:cNvSpPr txBox="1"/>
          <p:nvPr/>
        </p:nvSpPr>
        <p:spPr>
          <a:xfrm>
            <a:off x="2013960" y="598701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D78974-B850-4260-BB60-34E1AE8766E6}"/>
              </a:ext>
            </a:extLst>
          </p:cNvPr>
          <p:cNvSpPr txBox="1"/>
          <p:nvPr/>
        </p:nvSpPr>
        <p:spPr>
          <a:xfrm>
            <a:off x="8991600" y="1346650"/>
            <a:ext cx="124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Notch filter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" y="2517414"/>
            <a:ext cx="2455200" cy="2553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015" y="1138844"/>
            <a:ext cx="2602922" cy="2694282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652" y="457819"/>
            <a:ext cx="2346216" cy="2346216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654" y="3407220"/>
            <a:ext cx="2407902" cy="240790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672" y="2765290"/>
            <a:ext cx="2397652" cy="239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8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8567-AE56-4082-BE01-FBE87599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Notch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F6538-02C4-42C1-80B8-E05116C0F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 sz="3000"/>
            </a:pPr>
            <a:r>
              <a:rPr lang="en-US" dirty="0"/>
              <a:t>A notch filter rejects (or passes) frequencies in a predefined neighborhood about the center of the frequency rectangle.</a:t>
            </a:r>
          </a:p>
          <a:p>
            <a:pPr algn="just">
              <a:defRPr sz="3000"/>
            </a:pPr>
            <a:r>
              <a:rPr lang="en-US" dirty="0"/>
              <a:t>A notch is symmetric about the origin (center of the frequency rectangle) </a:t>
            </a:r>
          </a:p>
          <a:p>
            <a:pPr algn="just">
              <a:defRPr sz="3000"/>
            </a:pPr>
            <a:r>
              <a:rPr lang="en-US" dirty="0"/>
              <a:t>One with center at (u</a:t>
            </a:r>
            <a:r>
              <a:rPr lang="en-US" baseline="-25000" dirty="0"/>
              <a:t>0</a:t>
            </a:r>
            <a:r>
              <a:rPr lang="en-US" dirty="0"/>
              <a:t>, v</a:t>
            </a:r>
            <a:r>
              <a:rPr lang="en-US" baseline="-25000" dirty="0"/>
              <a:t>0</a:t>
            </a:r>
            <a:r>
              <a:rPr lang="en-US" dirty="0"/>
              <a:t>) must have a corresponding notch at location (-u</a:t>
            </a:r>
            <a:r>
              <a:rPr lang="en-US" baseline="-25000" dirty="0"/>
              <a:t>0</a:t>
            </a:r>
            <a:r>
              <a:rPr lang="en-US" dirty="0"/>
              <a:t>, -v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EEC1-C2D2-4D96-887E-EC83F444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21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2497-52B6-4E5A-8BFF-75AC0EC7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Ideal Notch Reject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4DBCA1-82CD-46ED-BCA3-766F07044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general form of Notch reject filter: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𝑁𝑅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2000" dirty="0"/>
                  <a:t> </a:t>
                </a:r>
                <a:r>
                  <a:rPr lang="en-US" sz="2000" dirty="0" err="1"/>
                  <a:t>H</a:t>
                </a:r>
                <a:r>
                  <a:rPr lang="en-US" sz="2000" baseline="-25000" dirty="0" err="1"/>
                  <a:t>k</a:t>
                </a:r>
                <a:r>
                  <a:rPr lang="en-US" sz="2000" dirty="0"/>
                  <a:t>(</a:t>
                </a:r>
                <a:r>
                  <a:rPr lang="en-US" sz="2000" dirty="0" err="1"/>
                  <a:t>u,v</a:t>
                </a:r>
                <a:r>
                  <a:rPr lang="en-US" sz="2000" dirty="0"/>
                  <a:t>) and H</a:t>
                </a:r>
                <a:r>
                  <a:rPr lang="en-US" sz="2000" baseline="-25000" dirty="0"/>
                  <a:t>−k </a:t>
                </a:r>
                <a:r>
                  <a:rPr lang="en-US" sz="2000" dirty="0"/>
                  <a:t>(u ,v) are </a:t>
                </a:r>
                <a:r>
                  <a:rPr lang="en-US" sz="2000" dirty="0" err="1"/>
                  <a:t>highpass</a:t>
                </a:r>
                <a:r>
                  <a:rPr lang="en-US" sz="2000" dirty="0"/>
                  <a:t> filter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transfer functions.</a:t>
                </a:r>
              </a:p>
              <a:p>
                <a:r>
                  <a:rPr lang="en-US" sz="2000" dirty="0"/>
                  <a:t>Centers of the filters are at ( </a:t>
                </a:r>
                <a:r>
                  <a:rPr lang="en-US" sz="2000" dirty="0" err="1"/>
                  <a:t>u</a:t>
                </a:r>
                <a:r>
                  <a:rPr lang="en-US" sz="2000" baseline="-25000" dirty="0" err="1"/>
                  <a:t>k</a:t>
                </a:r>
                <a:r>
                  <a:rPr lang="en-US" sz="2000" dirty="0" err="1"/>
                  <a:t>,v</a:t>
                </a:r>
                <a:r>
                  <a:rPr lang="en-US" sz="2000" baseline="-25000" dirty="0" err="1"/>
                  <a:t>k</a:t>
                </a:r>
                <a:r>
                  <a:rPr lang="en-US" sz="2000" baseline="-25000" dirty="0"/>
                  <a:t> </a:t>
                </a:r>
                <a:r>
                  <a:rPr lang="en-US" sz="2000" dirty="0"/>
                  <a:t>) and (-</a:t>
                </a:r>
                <a:r>
                  <a:rPr lang="en-US" sz="2000" dirty="0" err="1"/>
                  <a:t>u</a:t>
                </a:r>
                <a:r>
                  <a:rPr lang="en-US" sz="2000" baseline="-25000" dirty="0" err="1"/>
                  <a:t>k</a:t>
                </a:r>
                <a:r>
                  <a:rPr lang="en-US" sz="2000" dirty="0"/>
                  <a:t> ,-</a:t>
                </a:r>
                <a:r>
                  <a:rPr lang="en-US" sz="2000" dirty="0" err="1"/>
                  <a:t>v</a:t>
                </a:r>
                <a:r>
                  <a:rPr lang="en-US" sz="2000" baseline="-25000" dirty="0" err="1"/>
                  <a:t>k</a:t>
                </a:r>
                <a:r>
                  <a:rPr lang="en-US" sz="2000" dirty="0"/>
                  <a:t> ). </a:t>
                </a:r>
              </a:p>
              <a:p>
                <a:r>
                  <a:rPr lang="en-US" sz="2000" dirty="0"/>
                  <a:t>The center of the frequency rectangle (M/2,N/2),</a:t>
                </a:r>
              </a:p>
              <a:p>
                <a:r>
                  <a:rPr lang="en-US" sz="2000" dirty="0"/>
                  <a:t>M and N are the number of rows and columns in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the input image.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4DBCA1-82CD-46ED-BCA3-766F07044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9C362-9249-4250-BDE9-C4F7EEF1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89362-F5BE-4893-8FB9-3E5BA11ACB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60" r="1"/>
          <a:stretch/>
        </p:blipFill>
        <p:spPr>
          <a:xfrm>
            <a:off x="7043058" y="2780498"/>
            <a:ext cx="3607758" cy="302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36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E962-70FE-49AE-B7D9-45758268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Ideal Notch Reject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BE19-3AE4-4EA6-AA50-B45547EA4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general form of  Ideal High-pass filter where D0 (the cut off frequency) is the radius of the notch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distance computations for each filter transfer function are given by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43C47-D72E-46D5-8FBC-A901B465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56A6B2-8367-45D7-8D6C-1F8276A8BBF5}"/>
                  </a:ext>
                </a:extLst>
              </p:cNvPr>
              <p:cNvSpPr txBox="1"/>
              <p:nvPr/>
            </p:nvSpPr>
            <p:spPr>
              <a:xfrm>
                <a:off x="2567498" y="4077938"/>
                <a:ext cx="8052329" cy="7474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i="1" baseline="-250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𝑢</m:t>
                            </m:r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  <m:r>
                          <a:rPr kumimoji="0" lang="en-US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+</m:t>
                        </m:r>
                        <m:d>
                          <m:dPr>
                            <m:ctrlP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𝑣</m:t>
                            </m:r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e>
                    </m:d>
                    <m:f>
                      <m:fPr>
                        <m:type m:val="lin"/>
                        <m:ctrlP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fPr>
                      <m:num>
                        <m: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1</m:t>
                        </m:r>
                      </m:num>
                      <m:den>
                        <m: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den>
                    </m:f>
                  </m:oMath>
                </a14:m>
                <a:endParaRPr kumimoji="0" lang="en-US" sz="2800" b="0" i="0" u="none" strike="noStrike" cap="none" spc="0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Neue Medium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56A6B2-8367-45D7-8D6C-1F8276A8B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498" y="4077938"/>
                <a:ext cx="8052329" cy="747449"/>
              </a:xfrm>
              <a:prstGeom prst="rect">
                <a:avLst/>
              </a:prstGeom>
              <a:blipFill>
                <a:blip r:embed="rId2"/>
                <a:stretch>
                  <a:fillRect b="-813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DD8A5C-AE64-4CFE-A481-266663E10F47}"/>
                  </a:ext>
                </a:extLst>
              </p:cNvPr>
              <p:cNvSpPr txBox="1"/>
              <p:nvPr/>
            </p:nvSpPr>
            <p:spPr>
              <a:xfrm>
                <a:off x="2342432" y="5013646"/>
                <a:ext cx="8502459" cy="7474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baseline="-250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𝑢</m:t>
                            </m:r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  <m:r>
                          <a:rPr kumimoji="0" lang="en-US" sz="2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+</m:t>
                        </m:r>
                        <m:d>
                          <m:dPr>
                            <m:ctrlP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𝑣</m:t>
                            </m:r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0" lang="en-US" sz="2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e>
                    </m:d>
                    <m:f>
                      <m:fPr>
                        <m:type m:val="lin"/>
                        <m:ctrlP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fPr>
                      <m:num>
                        <m: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1</m:t>
                        </m:r>
                      </m:num>
                      <m:den>
                        <m:r>
                          <a:rPr kumimoji="0" lang="en-US" sz="28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den>
                    </m:f>
                  </m:oMath>
                </a14:m>
                <a:endParaRPr kumimoji="0" lang="en-US" sz="2800" b="0" i="0" u="none" strike="noStrike" cap="none" spc="0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DD8A5C-AE64-4CFE-A481-266663E10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32" y="5013646"/>
                <a:ext cx="8502459" cy="747449"/>
              </a:xfrm>
              <a:prstGeom prst="rect">
                <a:avLst/>
              </a:prstGeom>
              <a:blipFill>
                <a:blip r:embed="rId3"/>
                <a:stretch>
                  <a:fillRect b="-894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6BF5B0-984F-4A2C-A435-7AD4F22DB61D}"/>
                  </a:ext>
                </a:extLst>
              </p:cNvPr>
              <p:cNvSpPr txBox="1"/>
              <p:nvPr/>
            </p:nvSpPr>
            <p:spPr>
              <a:xfrm>
                <a:off x="3886752" y="2191311"/>
                <a:ext cx="4110356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)≤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)&gt;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6BF5B0-984F-4A2C-A435-7AD4F22DB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752" y="2191311"/>
                <a:ext cx="4110356" cy="916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323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4A81-3576-4FE4-A650-A4AF08C7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E123A-C3E9-4912-8554-10B1019B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Take an input grayscale image and apply Notch reject filters on the Fourier domain to remove periodic noise from the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DFT F(</a:t>
            </a:r>
            <a:r>
              <a:rPr lang="en-US" dirty="0" err="1"/>
              <a:t>u,v</a:t>
            </a:r>
            <a:r>
              <a:rPr lang="en-US" dirty="0"/>
              <a:t>) for the input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the power spectrum of F(</a:t>
            </a:r>
            <a:r>
              <a:rPr lang="en-US" dirty="0" err="1"/>
              <a:t>u,v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the coordinates from the spectrum which you want to remove.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Generate the Notch reject filter around the coordinate(= center) to reject that specific frequency as H(</a:t>
            </a:r>
            <a:r>
              <a:rPr lang="en-US" dirty="0" err="1"/>
              <a:t>u,v</a:t>
            </a:r>
            <a:r>
              <a:rPr lang="en-US" dirty="0"/>
              <a:t>). The radius of the Notch will be </a:t>
            </a:r>
            <a:r>
              <a:rPr lang="en-US"/>
              <a:t>user input</a:t>
            </a:r>
            <a:r>
              <a:rPr lang="en-US" dirty="0"/>
              <a:t>. Show 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Form the product G(</a:t>
            </a:r>
            <a:r>
              <a:rPr lang="en-US" dirty="0" err="1"/>
              <a:t>u,v</a:t>
            </a:r>
            <a:r>
              <a:rPr lang="en-US" dirty="0"/>
              <a:t>) = F(</a:t>
            </a:r>
            <a:r>
              <a:rPr lang="en-US" dirty="0" err="1"/>
              <a:t>u,v</a:t>
            </a:r>
            <a:r>
              <a:rPr lang="en-US" dirty="0"/>
              <a:t>)H(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Inverse Fourier Transform to generate the output image in the spatial domain.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A6BCD-78C6-4E62-B1E3-982B9359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81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72A3-C818-4A81-A372-24E8E3A1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02F7-1D17-4D1A-ABE2-F40C70C1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C41D606-F8F6-4632-84C8-F36425C0D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24" y="4159250"/>
            <a:ext cx="2652668" cy="2668520"/>
          </a:xfrm>
          <a:prstGeom prst="rect">
            <a:avLst/>
          </a:prstGeom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BFA4DBF-F310-43D0-850D-2663F698849A}"/>
              </a:ext>
            </a:extLst>
          </p:cNvPr>
          <p:cNvCxnSpPr>
            <a:cxnSpLocks/>
          </p:cNvCxnSpPr>
          <p:nvPr/>
        </p:nvCxnSpPr>
        <p:spPr>
          <a:xfrm flipV="1">
            <a:off x="5462092" y="5220710"/>
            <a:ext cx="4998263" cy="1272165"/>
          </a:xfrm>
          <a:prstGeom prst="bentConnector3">
            <a:avLst>
              <a:gd name="adj1" fmla="val 1000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EB2E27-CA1B-46E9-BABD-E381F92A3862}"/>
              </a:ext>
            </a:extLst>
          </p:cNvPr>
          <p:cNvCxnSpPr>
            <a:cxnSpLocks/>
          </p:cNvCxnSpPr>
          <p:nvPr/>
        </p:nvCxnSpPr>
        <p:spPr>
          <a:xfrm flipV="1">
            <a:off x="8919937" y="5245736"/>
            <a:ext cx="1540418" cy="34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0B6822-B4C5-472D-BAD4-AA7188D6285D}"/>
              </a:ext>
            </a:extLst>
          </p:cNvPr>
          <p:cNvCxnSpPr>
            <a:cxnSpLocks/>
          </p:cNvCxnSpPr>
          <p:nvPr/>
        </p:nvCxnSpPr>
        <p:spPr>
          <a:xfrm>
            <a:off x="7570562" y="2835275"/>
            <a:ext cx="0" cy="593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BF4D28-196B-4F46-946A-254618531FE6}"/>
              </a:ext>
            </a:extLst>
          </p:cNvPr>
          <p:cNvCxnSpPr>
            <a:cxnSpLocks/>
          </p:cNvCxnSpPr>
          <p:nvPr/>
        </p:nvCxnSpPr>
        <p:spPr>
          <a:xfrm>
            <a:off x="5410743" y="2339346"/>
            <a:ext cx="2159819" cy="1059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3E650B-345C-4AB0-8CE1-1BBA50C9D7EA}"/>
              </a:ext>
            </a:extLst>
          </p:cNvPr>
          <p:cNvCxnSpPr/>
          <p:nvPr/>
        </p:nvCxnSpPr>
        <p:spPr>
          <a:xfrm flipV="1">
            <a:off x="2524760" y="3088640"/>
            <a:ext cx="233314" cy="807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9D178FE-5B1D-443C-ADFA-E58DA3D429F7}"/>
              </a:ext>
            </a:extLst>
          </p:cNvPr>
          <p:cNvCxnSpPr/>
          <p:nvPr/>
        </p:nvCxnSpPr>
        <p:spPr>
          <a:xfrm>
            <a:off x="2524760" y="3896360"/>
            <a:ext cx="284664" cy="909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656E226-AEB1-4148-A611-1EF50D140009}"/>
              </a:ext>
            </a:extLst>
          </p:cNvPr>
          <p:cNvSpPr txBox="1"/>
          <p:nvPr/>
        </p:nvSpPr>
        <p:spPr>
          <a:xfrm>
            <a:off x="1090235" y="1391684"/>
            <a:ext cx="1719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 spectrum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2DA87A-DE4D-4CD7-9A2F-0E1DA745C2EC}"/>
              </a:ext>
            </a:extLst>
          </p:cNvPr>
          <p:cNvSpPr txBox="1"/>
          <p:nvPr/>
        </p:nvSpPr>
        <p:spPr>
          <a:xfrm>
            <a:off x="2013960" y="598701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D78974-B850-4260-BB60-34E1AE8766E6}"/>
              </a:ext>
            </a:extLst>
          </p:cNvPr>
          <p:cNvSpPr txBox="1"/>
          <p:nvPr/>
        </p:nvSpPr>
        <p:spPr>
          <a:xfrm>
            <a:off x="8991600" y="1346650"/>
            <a:ext cx="124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Notch filter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" y="2517414"/>
            <a:ext cx="2455200" cy="2553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015" y="1138844"/>
            <a:ext cx="2602922" cy="2694282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652" y="457819"/>
            <a:ext cx="2346216" cy="2346216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654" y="3407220"/>
            <a:ext cx="2407902" cy="240790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672" y="2765290"/>
            <a:ext cx="2397652" cy="239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40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C698A-3DB3-495C-ADF0-FCB324E7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5C183-0C7F-4FFB-ADEC-69F4377C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BD985-30D6-4B6F-BBAE-9498BB687BF7}"/>
              </a:ext>
            </a:extLst>
          </p:cNvPr>
          <p:cNvSpPr txBox="1"/>
          <p:nvPr/>
        </p:nvSpPr>
        <p:spPr>
          <a:xfrm>
            <a:off x="783243" y="4811088"/>
            <a:ext cx="280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image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0B790-0B4E-4535-98DF-C03BB3EB2BBB}"/>
              </a:ext>
            </a:extLst>
          </p:cNvPr>
          <p:cNvSpPr txBox="1"/>
          <p:nvPr/>
        </p:nvSpPr>
        <p:spPr>
          <a:xfrm>
            <a:off x="8200967" y="4672587"/>
            <a:ext cx="280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Removing frequency at (</a:t>
            </a:r>
            <a:r>
              <a:rPr lang="en-US" dirty="0" err="1"/>
              <a:t>u,v</a:t>
            </a:r>
            <a:r>
              <a:rPr lang="en-US" dirty="0"/>
              <a:t>)= (261,261) , D0 = 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74" y="1587195"/>
            <a:ext cx="2888299" cy="300376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883" y="1587195"/>
            <a:ext cx="2882718" cy="3003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950" y="1587194"/>
            <a:ext cx="2909455" cy="3003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F0B790-0B4E-4535-98DF-C03BB3EB2BBB}"/>
              </a:ext>
            </a:extLst>
          </p:cNvPr>
          <p:cNvSpPr txBox="1"/>
          <p:nvPr/>
        </p:nvSpPr>
        <p:spPr>
          <a:xfrm>
            <a:off x="4419597" y="4672588"/>
            <a:ext cx="280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Removing frequency at (</a:t>
            </a:r>
            <a:r>
              <a:rPr lang="en-US" dirty="0" err="1"/>
              <a:t>u,v</a:t>
            </a:r>
            <a:r>
              <a:rPr lang="en-US" dirty="0"/>
              <a:t>)= (261,261) , D0 = 1</a:t>
            </a:r>
          </a:p>
        </p:txBody>
      </p:sp>
    </p:spTree>
    <p:extLst>
      <p:ext uri="{BB962C8B-B14F-4D97-AF65-F5344CB8AC3E}">
        <p14:creationId xmlns:p14="http://schemas.microsoft.com/office/powerpoint/2010/main" val="2484182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9CAC-B185-4ED3-B3E9-3065A47E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Assignment: Band Reject Filters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1B78A-9CDA-4DA3-90D4-C98F290A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03D81560-8C72-4759-B1C9-CEE7EEF57E33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168399"/>
            <a:ext cx="8991600" cy="5370513"/>
            <a:chOff x="672" y="1056"/>
            <a:chExt cx="4848" cy="3047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FA37F012-C657-45D1-912C-2FA64FF54E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1056"/>
              <a:ext cx="4848" cy="30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1B5FC2C-371F-45E4-B8E8-EB85BFB72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1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CF332F7-95C3-40A1-959F-78ADEAD4C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44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E251B70-BF8F-4C6F-B09F-ADF02AA54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72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235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Ideal Band Reject Filter</a:t>
            </a:r>
          </a:p>
        </p:txBody>
      </p:sp>
      <p:pic>
        <p:nvPicPr>
          <p:cNvPr id="77828" name="Picture 7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3954" y="4217837"/>
            <a:ext cx="3276599" cy="2321075"/>
          </a:xfrm>
          <a:noFill/>
        </p:spPr>
      </p:pic>
      <p:graphicFrame>
        <p:nvGraphicFramePr>
          <p:cNvPr id="7782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903971"/>
              </p:ext>
            </p:extLst>
          </p:nvPr>
        </p:nvGraphicFramePr>
        <p:xfrm>
          <a:off x="1135734" y="1627281"/>
          <a:ext cx="5326123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6" imgW="3124200" imgH="1206500" progId="Equation.DSMT4">
                  <p:embed/>
                </p:oleObj>
              </mc:Choice>
              <mc:Fallback>
                <p:oleObj name="Equation" r:id="rId6" imgW="3124200" imgH="1206500" progId="Equation.DSMT4">
                  <p:embed/>
                  <p:pic>
                    <p:nvPicPr>
                      <p:cNvPr id="7782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734" y="1627281"/>
                        <a:ext cx="5326123" cy="2057400"/>
                      </a:xfrm>
                      <a:prstGeom prst="rect">
                        <a:avLst/>
                      </a:prstGeom>
                      <a:solidFill>
                        <a:srgbClr val="EFF98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0" name="Text Box 9"/>
          <p:cNvSpPr txBox="1">
            <a:spLocks noChangeArrowheads="1"/>
          </p:cNvSpPr>
          <p:nvPr/>
        </p:nvSpPr>
        <p:spPr bwMode="auto">
          <a:xfrm>
            <a:off x="6934200" y="1591799"/>
            <a:ext cx="45406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en-US" sz="2000" i="1" dirty="0">
                <a:solidFill>
                  <a:srgbClr val="FF33CC"/>
                </a:solidFill>
              </a:rPr>
              <a:t>-</a:t>
            </a:r>
            <a:r>
              <a:rPr lang="en-US" altLang="en-US" sz="2000" i="1" dirty="0">
                <a:solidFill>
                  <a:srgbClr val="0000FF"/>
                </a:solidFill>
              </a:rPr>
              <a:t>D(</a:t>
            </a:r>
            <a:r>
              <a:rPr lang="en-US" altLang="en-US" sz="2000" i="1" dirty="0" err="1">
                <a:solidFill>
                  <a:srgbClr val="0000FF"/>
                </a:solidFill>
              </a:rPr>
              <a:t>u,v</a:t>
            </a:r>
            <a:r>
              <a:rPr lang="en-US" altLang="en-US" sz="2000" i="1" dirty="0">
                <a:solidFill>
                  <a:srgbClr val="0000FF"/>
                </a:solidFill>
              </a:rPr>
              <a:t>)</a:t>
            </a:r>
            <a:r>
              <a:rPr lang="en-US" altLang="en-US" sz="2000" dirty="0">
                <a:solidFill>
                  <a:srgbClr val="FF33CC"/>
                </a:solidFill>
              </a:rPr>
              <a:t> =distance from the origin of the centered freq. rectangle</a:t>
            </a:r>
          </a:p>
          <a:p>
            <a:pPr>
              <a:spcBef>
                <a:spcPts val="600"/>
              </a:spcBef>
            </a:pPr>
            <a:r>
              <a:rPr lang="en-US" altLang="en-US" sz="2000" dirty="0">
                <a:solidFill>
                  <a:srgbClr val="FF33CC"/>
                </a:solidFill>
              </a:rPr>
              <a:t>-</a:t>
            </a:r>
            <a:r>
              <a:rPr lang="en-US" altLang="en-US" sz="2000" i="1" dirty="0">
                <a:solidFill>
                  <a:srgbClr val="0000FF"/>
                </a:solidFill>
              </a:rPr>
              <a:t>W</a:t>
            </a:r>
            <a:r>
              <a:rPr lang="en-US" altLang="en-US" sz="2000" dirty="0">
                <a:solidFill>
                  <a:srgbClr val="0000FF"/>
                </a:solidFill>
              </a:rPr>
              <a:t> </a:t>
            </a:r>
            <a:r>
              <a:rPr lang="en-US" altLang="en-US" sz="2000" dirty="0">
                <a:solidFill>
                  <a:srgbClr val="FF33CC"/>
                </a:solidFill>
              </a:rPr>
              <a:t>=width of the band</a:t>
            </a:r>
          </a:p>
          <a:p>
            <a:pPr>
              <a:spcBef>
                <a:spcPts val="600"/>
              </a:spcBef>
            </a:pPr>
            <a:r>
              <a:rPr lang="en-US" altLang="en-US" sz="2000" dirty="0">
                <a:solidFill>
                  <a:srgbClr val="FF33CC"/>
                </a:solidFill>
              </a:rPr>
              <a:t>-</a:t>
            </a:r>
            <a:r>
              <a:rPr lang="en-US" altLang="en-US" sz="2000" i="1" dirty="0">
                <a:solidFill>
                  <a:srgbClr val="0000FF"/>
                </a:solidFill>
              </a:rPr>
              <a:t>D</a:t>
            </a:r>
            <a:r>
              <a:rPr lang="en-US" altLang="en-US" sz="2000" i="1" baseline="-25000" dirty="0">
                <a:solidFill>
                  <a:srgbClr val="0000FF"/>
                </a:solidFill>
              </a:rPr>
              <a:t>0</a:t>
            </a:r>
            <a:r>
              <a:rPr lang="en-US" altLang="en-US" sz="2000" dirty="0">
                <a:solidFill>
                  <a:srgbClr val="FF33CC"/>
                </a:solidFill>
              </a:rPr>
              <a:t>=Radial center of the band.</a:t>
            </a:r>
            <a:endParaRPr lang="en-US" altLang="en-US" sz="2000" i="1" dirty="0">
              <a:solidFill>
                <a:srgbClr val="FF33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157478-7D0A-4054-9585-B17BCF9D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090-A2DB-4680-8FD4-F48C19C93EF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5909"/>
            <a:ext cx="10515600" cy="80710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Butterworth and Gaussian Band Reject Filters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Butterworth Band-Reject Filter of order </a:t>
            </a:r>
            <a:r>
              <a:rPr lang="en-US" altLang="en-US" i="1" dirty="0"/>
              <a:t>n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sz="2800" dirty="0"/>
              <a:t>Gaussian Band-Reject Filter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3200400" y="1752601"/>
          <a:ext cx="35052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4" imgW="1943100" imgH="698500" progId="Equation.DSMT4">
                  <p:embed/>
                </p:oleObj>
              </mc:Choice>
              <mc:Fallback>
                <p:oleObj name="Equation" r:id="rId4" imgW="1943100" imgH="698500" progId="Equation.DSMT4">
                  <p:embed/>
                  <p:pic>
                    <p:nvPicPr>
                      <p:cNvPr id="798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752601"/>
                        <a:ext cx="3505200" cy="1260475"/>
                      </a:xfrm>
                      <a:prstGeom prst="rect">
                        <a:avLst/>
                      </a:prstGeom>
                      <a:solidFill>
                        <a:srgbClr val="EFF98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2532842" y="4081532"/>
          <a:ext cx="4139629" cy="1100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6" imgW="1625600" imgH="431800" progId="Equation.DSMT4">
                  <p:embed/>
                </p:oleObj>
              </mc:Choice>
              <mc:Fallback>
                <p:oleObj name="Equation" r:id="rId6" imgW="1625600" imgH="431800" progId="Equation.DSMT4">
                  <p:embed/>
                  <p:pic>
                    <p:nvPicPr>
                      <p:cNvPr id="798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842" y="4081532"/>
                        <a:ext cx="4139629" cy="1100068"/>
                      </a:xfrm>
                      <a:prstGeom prst="rect">
                        <a:avLst/>
                      </a:prstGeom>
                      <a:solidFill>
                        <a:srgbClr val="EFF98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7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9670" y="4015270"/>
            <a:ext cx="3641278" cy="2080730"/>
          </a:xfrm>
          <a:prstGeom prst="rect">
            <a:avLst/>
          </a:prstGeom>
          <a:noFill/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5090" y="1600200"/>
            <a:ext cx="3582910" cy="2212974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931310-B506-4115-B1AF-13930A10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090-A2DB-4680-8FD4-F48C19C93EF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47DC-7DDA-478E-9FE5-FDF981E0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D3E10-5835-4AAE-A53F-D5BC7FF2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9341AD5-6519-432C-ABE0-E8688AE58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498391"/>
              </p:ext>
            </p:extLst>
          </p:nvPr>
        </p:nvGraphicFramePr>
        <p:xfrm>
          <a:off x="1809378" y="1400983"/>
          <a:ext cx="7585635" cy="485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545">
                  <a:extLst>
                    <a:ext uri="{9D8B030D-6E8A-4147-A177-3AD203B41FA5}">
                      <a16:colId xmlns:a16="http://schemas.microsoft.com/office/drawing/2014/main" val="876063310"/>
                    </a:ext>
                  </a:extLst>
                </a:gridCol>
                <a:gridCol w="2528545">
                  <a:extLst>
                    <a:ext uri="{9D8B030D-6E8A-4147-A177-3AD203B41FA5}">
                      <a16:colId xmlns:a16="http://schemas.microsoft.com/office/drawing/2014/main" val="4153159403"/>
                    </a:ext>
                  </a:extLst>
                </a:gridCol>
                <a:gridCol w="2528545">
                  <a:extLst>
                    <a:ext uri="{9D8B030D-6E8A-4147-A177-3AD203B41FA5}">
                      <a16:colId xmlns:a16="http://schemas.microsoft.com/office/drawing/2014/main" val="1058203998"/>
                    </a:ext>
                  </a:extLst>
                </a:gridCol>
              </a:tblGrid>
              <a:tr h="121409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Corrupted Image with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Reconstructed Image after applying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102047"/>
                  </a:ext>
                </a:extLst>
              </a:tr>
              <a:tr h="121409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Ideal Band Reject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Reconstructed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671062"/>
                  </a:ext>
                </a:extLst>
              </a:tr>
              <a:tr h="1214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Image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Butter worth Band Reject Filter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Reconstructed Image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992870"/>
                  </a:ext>
                </a:extLst>
              </a:tr>
              <a:tr h="1214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Image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Band Reject Filter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Reconstructed Image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3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222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7907-C793-4C7F-B32F-A901822E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B3863-0E87-4DAE-825E-F1E7A3C15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3CA1C-4A37-4FB5-9A02-8FA54917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48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3BC2-82E7-44F5-8874-1F51734F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7E80-B601-4189-AD7D-1F9421FB4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https://www.amritaryal.com.np/posts/categories/mathematics-and-engineering/2.html</a:t>
            </a:r>
          </a:p>
          <a:p>
            <a:r>
              <a:rPr lang="en-US" dirty="0">
                <a:hlinkClick r:id="rId3"/>
              </a:rPr>
              <a:t>https://contra.medium.com/drawing-anything-with-fourier-series-using-blender-and-python-c0881e1b738c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D0EE9-FB02-4E78-AC4B-C9891FAB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43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872</Words>
  <Application>Microsoft Office PowerPoint</Application>
  <PresentationFormat>Widescreen</PresentationFormat>
  <Paragraphs>184</Paragraphs>
  <Slides>28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Times New Roman</vt:lpstr>
      <vt:lpstr>TimesNewRomanPSMT</vt:lpstr>
      <vt:lpstr>Office Theme</vt:lpstr>
      <vt:lpstr>Equation</vt:lpstr>
      <vt:lpstr>方程式</vt:lpstr>
      <vt:lpstr>PowerPoint Presentation</vt:lpstr>
      <vt:lpstr>What We are Going to Do Today?</vt:lpstr>
      <vt:lpstr>Examples</vt:lpstr>
      <vt:lpstr>Examples</vt:lpstr>
      <vt:lpstr>2D DFT</vt:lpstr>
      <vt:lpstr>2D Discrete Fourier Transform</vt:lpstr>
      <vt:lpstr>Magnitude and Phase of DFT</vt:lpstr>
      <vt:lpstr>Magnitude and Phase of DFT (cont’d)</vt:lpstr>
      <vt:lpstr>Fourier Transform</vt:lpstr>
      <vt:lpstr>Basics of Filtering in the Frequency Domain</vt:lpstr>
      <vt:lpstr>Basics of Filtering in the Frequency Domain</vt:lpstr>
      <vt:lpstr>Steps</vt:lpstr>
      <vt:lpstr>Steps</vt:lpstr>
      <vt:lpstr>Implement These Steps</vt:lpstr>
      <vt:lpstr>Steps</vt:lpstr>
      <vt:lpstr>Example</vt:lpstr>
      <vt:lpstr>Notch Filter</vt:lpstr>
      <vt:lpstr>Ideal Notch Reject Filter</vt:lpstr>
      <vt:lpstr>Ideal Notch Reject Filter</vt:lpstr>
      <vt:lpstr>Classwork </vt:lpstr>
      <vt:lpstr>Classwork</vt:lpstr>
      <vt:lpstr>Classwork</vt:lpstr>
      <vt:lpstr>Assignment: Band Reject Filters</vt:lpstr>
      <vt:lpstr>Ideal Band Reject Filter</vt:lpstr>
      <vt:lpstr>Butterworth and Gaussian Band Reject Filters</vt:lpstr>
      <vt:lpstr>Output Format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 Lab 1</dc:title>
  <dc:creator>Sunanda_Das</dc:creator>
  <cp:lastModifiedBy>Tajmilur</cp:lastModifiedBy>
  <cp:revision>126</cp:revision>
  <dcterms:created xsi:type="dcterms:W3CDTF">2022-03-22T12:35:29Z</dcterms:created>
  <dcterms:modified xsi:type="dcterms:W3CDTF">2026-08-04T07:26:46Z</dcterms:modified>
</cp:coreProperties>
</file>