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271" r:id="rId3"/>
    <p:sldId id="277" r:id="rId4"/>
    <p:sldId id="272" r:id="rId5"/>
    <p:sldId id="276" r:id="rId6"/>
    <p:sldId id="275" r:id="rId7"/>
    <p:sldId id="273" r:id="rId8"/>
    <p:sldId id="274" r:id="rId9"/>
    <p:sldId id="257" r:id="rId10"/>
    <p:sldId id="267" r:id="rId11"/>
    <p:sldId id="278" r:id="rId12"/>
    <p:sldId id="260" r:id="rId13"/>
    <p:sldId id="258" r:id="rId14"/>
    <p:sldId id="279" r:id="rId15"/>
    <p:sldId id="261" r:id="rId16"/>
    <p:sldId id="259" r:id="rId17"/>
    <p:sldId id="280" r:id="rId18"/>
    <p:sldId id="262" r:id="rId19"/>
    <p:sldId id="263" r:id="rId20"/>
    <p:sldId id="282" r:id="rId21"/>
    <p:sldId id="264" r:id="rId22"/>
    <p:sldId id="265" r:id="rId23"/>
    <p:sldId id="281" r:id="rId24"/>
    <p:sldId id="266" r:id="rId25"/>
    <p:sldId id="283" r:id="rId26"/>
    <p:sldId id="294" r:id="rId27"/>
    <p:sldId id="295" r:id="rId28"/>
    <p:sldId id="29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6" r:id="rId38"/>
    <p:sldId id="297" r:id="rId39"/>
    <p:sldId id="298" r:id="rId40"/>
    <p:sldId id="301" r:id="rId41"/>
    <p:sldId id="302" r:id="rId42"/>
    <p:sldId id="299" r:id="rId43"/>
    <p:sldId id="303" r:id="rId44"/>
    <p:sldId id="304" r:id="rId45"/>
    <p:sldId id="309" r:id="rId46"/>
    <p:sldId id="306" r:id="rId47"/>
    <p:sldId id="310" r:id="rId48"/>
    <p:sldId id="305" r:id="rId49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6FE64-AB6C-439C-91F8-D606236204FC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91DE7-A795-4F8F-B01A-9C871B070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34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96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A550-43A4-67DC-AB07-E3E422A6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3CAFC-1B20-0011-0B67-3C953BB73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B2AAE-7E6C-7448-6408-EF1C1619C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ED657-1B97-8742-9D99-6EDB15C0C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18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B1A79-4A3D-F0D0-9044-03E57A1A2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917F6-AE0D-6883-EB9A-6AD8155AA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801DB-52CC-4000-16ED-50E86ACFE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74D82-F694-DFDD-C9FD-05EEC0114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1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739A-1ED0-7381-B01C-D114750D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E853B-116F-16F2-FCDA-E4A3F7896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404EE-BCD2-DC6E-9724-D6EFFC865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A955C-18B6-A085-CAEB-2A7848267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53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1420A-271B-9428-1F2D-759F3623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2F891-514C-5FCE-5D5E-9839602F9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4B8EA-F4E2-EE76-7632-7888A27D2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DCD21-C161-02EB-CF7B-01A24CA1A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67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351F-F96B-0CDC-8B58-E22032B4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0D212-BC23-7DA2-A0E8-F1B489CEB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4862D-A24D-54B9-A705-8E02872AB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FB168-56DE-9228-C65D-7D6C319D0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28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42D8F-DBEA-49FF-136B-3C200425C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82930-87AA-9C46-FF3E-B4F4BACB6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1FD49-6132-3B7B-1840-0C120CAC9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7F34A-FB7D-5E84-E5C2-A638A06D5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26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77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7E68-95A6-3A6C-4244-74CC9B3B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EE19C-A8F2-85AB-8853-E69AE4FFF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C6510-9458-8424-43FB-735A2EAE9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0B53C-1398-C5CA-5FDF-49DD8BC17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85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B5AFA-C882-ABF4-9169-82BC5718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81901-AB0D-82B7-89D8-5902232FC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96CD7-E165-FE24-130C-360FEB6C4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D284A-7699-4289-57AC-BA654F91F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45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1B66E-DEF1-2636-D217-923C63D08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FD374-43E4-DEC4-8264-8DFF2E572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5A7F3-0FE0-1063-F644-42E6CDDB6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167F9-544C-25B4-2AAE-145B4FFF9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98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5F9E9-D4B4-FF1A-6564-AA118367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7EC984-4022-70DE-8A08-E0226900A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42FB4-BEE6-FD8E-C460-5AFBFF616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64927-BD08-49E0-03F7-B4439F056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30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52570-5DDB-1E5C-EDAD-154ACAB8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56154-6B7D-5BB5-F40D-B2DB20D76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8EDC5-81F7-A683-0720-1609D4462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058B1-0B79-65F1-5652-34D3EB649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71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9EE22-A880-7E5A-AD6E-82BC6AC9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43A37-C256-1F94-B84C-499DE19E3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7BF88-DCA3-99B7-959A-91E2A79F7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04825-9B16-470E-2252-19B6C732B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08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B28C-1964-9A86-B37B-765A25F3F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7E206-D0B2-2F3D-C20B-D4F21C0CD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DC086-6944-60D3-3C3E-C1716D654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63259-BF3F-304F-0761-0B8092799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0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01F3A-31AF-7D97-039F-8D7B0099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CFFD6-DAE1-1878-65E9-4F30319BF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C359D-6D25-3B00-DCB6-29295F5EC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8F423-7733-5E78-F4EF-CECD52778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47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3BEE-3FB5-5B76-77B1-B58FC5EB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E9904-F98F-2D60-DA54-6CA7D974E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56033-F0C6-1444-6DD8-5309097B0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D85F5-FA42-3C98-F905-929319FEB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378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2C9FC-D46A-DF4C-171A-6133DA35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52FAF-E8A7-3128-5E8C-00408F5CA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0FCC2-9485-83F1-501A-486C59910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4E664-D024-70A9-43F4-D7C58CE1F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45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BF20C-5F42-397B-C8F1-7CBE45AB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5A48A-6404-722D-B897-5CC9DE731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437F3-F5D0-F7D6-1846-C78534222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28F4A-7FF1-E380-6DF4-EF5AC2935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36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B1A79-4A3D-F0D0-9044-03E57A1A2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917F6-AE0D-6883-EB9A-6AD8155AA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801DB-52CC-4000-16ED-50E86ACFE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74D82-F694-DFDD-C9FD-05EEC0114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991DE7-A795-4F8F-B01A-9C871B0702D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5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15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30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1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7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0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78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8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88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8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53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3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7C6B3-B491-4EB5-9251-B3C7D7A33465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D7583-F8E2-4C10-A04E-1FE04147B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33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6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ernel_(image_processing)" TargetMode="External"/><Relationship Id="rId2" Type="http://schemas.openxmlformats.org/officeDocument/2006/relationships/hyperlink" Target="https://www.kaggle.com/datasets/abdallahwagih/retina-blood-vesse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omepages.inf.ed.ac.uk/rbf/HIPR2/unsharp.htm" TargetMode="External"/><Relationship Id="rId5" Type="http://schemas.openxmlformats.org/officeDocument/2006/relationships/hyperlink" Target="https://en.wikipedia.org/wiki/Sobel_operator?utm_source=chatgpt.com" TargetMode="External"/><Relationship Id="rId4" Type="http://schemas.openxmlformats.org/officeDocument/2006/relationships/hyperlink" Target="https://docs.opencv.org/master/d4/d86/group__imgproc__filt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AF01E15-83B3-494E-67DF-AD04B6ABC0DD}"/>
              </a:ext>
            </a:extLst>
          </p:cNvPr>
          <p:cNvSpPr/>
          <p:nvPr/>
        </p:nvSpPr>
        <p:spPr>
          <a:xfrm>
            <a:off x="1794328" y="2942789"/>
            <a:ext cx="11028947" cy="182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70C54C-6704-2E1F-2474-34BBCFF6BB88}"/>
              </a:ext>
            </a:extLst>
          </p:cNvPr>
          <p:cNvSpPr txBox="1"/>
          <p:nvPr/>
        </p:nvSpPr>
        <p:spPr>
          <a:xfrm>
            <a:off x="2169800" y="676081"/>
            <a:ext cx="12277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CSE 4102: Computer Graphics and Image Processing Laboratory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7016D-4037-48ED-B2D0-709D6A85F015}"/>
              </a:ext>
            </a:extLst>
          </p:cNvPr>
          <p:cNvSpPr txBox="1"/>
          <p:nvPr/>
        </p:nvSpPr>
        <p:spPr>
          <a:xfrm>
            <a:off x="1807118" y="3349357"/>
            <a:ext cx="110161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Lab 01: Point &amp; Spatial 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BD453-59BA-4D1D-5387-73BAFD1B0D1F}"/>
              </a:ext>
            </a:extLst>
          </p:cNvPr>
          <p:cNvSpPr txBox="1"/>
          <p:nvPr/>
        </p:nvSpPr>
        <p:spPr>
          <a:xfrm>
            <a:off x="8056489" y="6118908"/>
            <a:ext cx="641573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/>
              <a:t>Md </a:t>
            </a:r>
            <a:r>
              <a:rPr lang="en-US" sz="2800" dirty="0" err="1"/>
              <a:t>Tajmilur</a:t>
            </a:r>
            <a:r>
              <a:rPr lang="en-US" sz="2800" dirty="0"/>
              <a:t> Rahman</a:t>
            </a:r>
          </a:p>
          <a:p>
            <a:pPr algn="r"/>
            <a:r>
              <a:rPr lang="en-US" sz="2800" dirty="0"/>
              <a:t>Lecturer, Dept. of CSE, KUET</a:t>
            </a:r>
          </a:p>
          <a:p>
            <a:pPr algn="r"/>
            <a:r>
              <a:rPr lang="en-US" sz="2800" dirty="0"/>
              <a:t>Md. Mubtashim Abrar Nihal</a:t>
            </a:r>
          </a:p>
          <a:p>
            <a:pPr algn="r"/>
            <a:r>
              <a:rPr lang="en-US" sz="2800" dirty="0"/>
              <a:t>Lecturer (Part-Time), Dept. of CSE, KUET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E2380A-D8BE-8113-6F35-1A3F953BB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82880"/>
            <a:ext cx="1611448" cy="1828800"/>
          </a:xfrm>
          <a:prstGeom prst="rect">
            <a:avLst/>
          </a:prstGeom>
        </p:spPr>
      </p:pic>
      <p:pic>
        <p:nvPicPr>
          <p:cNvPr id="12" name="Picture 11" descr="Healthcare technician reading CT scan">
            <a:extLst>
              <a:ext uri="{FF2B5EF4-FFF2-40B4-BE49-F238E27FC236}">
                <a16:creationId xmlns:a16="http://schemas.microsoft.com/office/drawing/2014/main" id="{844FF51F-C67E-C1BE-E443-659A272FC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303520"/>
            <a:ext cx="411560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527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C5AD5-5388-A3E1-C4B1-15A92DFA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7C141B-6045-6599-8E30-CC26BA89D92F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Environment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DFB6E4-7935-7692-4E5E-4B11CCC9B732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8024BB3-A127-1DAC-D30E-54BFA7FF9423}"/>
              </a:ext>
            </a:extLst>
          </p:cNvPr>
          <p:cNvSpPr txBox="1"/>
          <p:nvPr/>
        </p:nvSpPr>
        <p:spPr>
          <a:xfrm>
            <a:off x="457200" y="2683639"/>
            <a:ext cx="13716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u="sng" dirty="0"/>
              <a:t>Programming Language</a:t>
            </a:r>
            <a:r>
              <a:rPr lang="en-US" sz="3600" dirty="0"/>
              <a:t>: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u="sng" dirty="0"/>
              <a:t>Python Packages</a:t>
            </a:r>
            <a:r>
              <a:rPr lang="en-US" sz="3600" dirty="0"/>
              <a:t>: OpenCV, NumPy, 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u="sng" dirty="0"/>
              <a:t>Text Editor</a:t>
            </a:r>
            <a:r>
              <a:rPr lang="en-US" sz="3600" dirty="0"/>
              <a:t>: Visual Studio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u="sng" dirty="0"/>
              <a:t>Visual Studio Code Extensions</a:t>
            </a:r>
            <a:r>
              <a:rPr lang="en-US" sz="3600" dirty="0"/>
              <a:t>: Python, Code Runner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53199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A6051-1FA6-97BE-1B67-92A97E1E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EA5EFB-B535-53E0-AB7E-594CFD6B7519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Packages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564732-BADC-BA19-94A0-10009598E369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4A68DE-8927-5155-62CC-871FAEA89C91}"/>
              </a:ext>
            </a:extLst>
          </p:cNvPr>
          <p:cNvSpPr txBox="1"/>
          <p:nvPr/>
        </p:nvSpPr>
        <p:spPr>
          <a:xfrm>
            <a:off x="4136571" y="4469400"/>
            <a:ext cx="63572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sz="2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endParaRPr lang="en-US" sz="2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endParaRPr lang="en-US" sz="2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sz="2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3FA95-D1C7-79C2-ED49-E389835F635B}"/>
              </a:ext>
            </a:extLst>
          </p:cNvPr>
          <p:cNvSpPr txBox="1"/>
          <p:nvPr/>
        </p:nvSpPr>
        <p:spPr>
          <a:xfrm>
            <a:off x="174171" y="1451877"/>
            <a:ext cx="14173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u="sng" dirty="0" err="1"/>
              <a:t>os</a:t>
            </a:r>
            <a:r>
              <a:rPr lang="en-US" sz="3600" dirty="0"/>
              <a:t>: interact with operating system (creating folders)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u="sng" dirty="0"/>
              <a:t>cv2</a:t>
            </a:r>
            <a:r>
              <a:rPr lang="en-US" sz="3600" dirty="0"/>
              <a:t>: image processing tasks (reading, writing, manipulating images)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u="sng" dirty="0" err="1"/>
              <a:t>numpy</a:t>
            </a:r>
            <a:r>
              <a:rPr lang="en-US" sz="3600" dirty="0"/>
              <a:t>: to work with arrays and matrices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u="sng" dirty="0"/>
              <a:t>matplotlib</a:t>
            </a:r>
            <a:r>
              <a:rPr lang="en-US" sz="3600" dirty="0"/>
              <a:t>: plot images</a:t>
            </a:r>
          </a:p>
        </p:txBody>
      </p:sp>
    </p:spTree>
    <p:extLst>
      <p:ext uri="{BB962C8B-B14F-4D97-AF65-F5344CB8AC3E}">
        <p14:creationId xmlns:p14="http://schemas.microsoft.com/office/powerpoint/2010/main" val="1366500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4082-CAE5-5CD7-8542-7985D21E8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A37A865-DD7A-60DC-779C-75934181DFCA}"/>
              </a:ext>
            </a:extLst>
          </p:cNvPr>
          <p:cNvSpPr/>
          <p:nvPr/>
        </p:nvSpPr>
        <p:spPr>
          <a:xfrm>
            <a:off x="9154886" y="3810000"/>
            <a:ext cx="4024990" cy="483695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4F0B8C-DAE3-A108-3496-65F4453221E7}"/>
              </a:ext>
            </a:extLst>
          </p:cNvPr>
          <p:cNvSpPr/>
          <p:nvPr/>
        </p:nvSpPr>
        <p:spPr>
          <a:xfrm>
            <a:off x="4955723" y="3810000"/>
            <a:ext cx="3883477" cy="48369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4A9F23-1464-E635-C7FF-2AB312B0293D}"/>
              </a:ext>
            </a:extLst>
          </p:cNvPr>
          <p:cNvSpPr/>
          <p:nvPr/>
        </p:nvSpPr>
        <p:spPr>
          <a:xfrm>
            <a:off x="2779950" y="3810000"/>
            <a:ext cx="2041065" cy="483695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1C9446-67EC-2214-A4AA-656DFD073FD3}"/>
              </a:ext>
            </a:extLst>
          </p:cNvPr>
          <p:cNvSpPr/>
          <p:nvPr/>
        </p:nvSpPr>
        <p:spPr>
          <a:xfrm>
            <a:off x="1143000" y="3810000"/>
            <a:ext cx="1208308" cy="483695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40A37-966D-13B4-AF01-F45CB495C204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an Image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1370D2-7B17-EC80-CB54-FC028BFA705F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1B524D9-E29E-1D87-C30C-E5F66EC829A9}"/>
              </a:ext>
            </a:extLst>
          </p:cNvPr>
          <p:cNvSpPr txBox="1"/>
          <p:nvPr/>
        </p:nvSpPr>
        <p:spPr>
          <a:xfrm>
            <a:off x="1143000" y="3935905"/>
            <a:ext cx="12344400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imread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"CNV-1016042-3.jpeg"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IMREAD_GRAYSCALE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EAD35E-B37F-EF68-C019-5ED61D670E62}"/>
              </a:ext>
            </a:extLst>
          </p:cNvPr>
          <p:cNvSpPr txBox="1"/>
          <p:nvPr/>
        </p:nvSpPr>
        <p:spPr>
          <a:xfrm>
            <a:off x="1143000" y="1555592"/>
            <a:ext cx="4386943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variable to store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2EC02-7497-5F83-02A8-C2B5CCB0810F}"/>
              </a:ext>
            </a:extLst>
          </p:cNvPr>
          <p:cNvSpPr txBox="1"/>
          <p:nvPr/>
        </p:nvSpPr>
        <p:spPr>
          <a:xfrm>
            <a:off x="9329056" y="1555592"/>
            <a:ext cx="415834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relative path to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9DDC5C-E653-086D-D0EF-D6BCBC528B8E}"/>
              </a:ext>
            </a:extLst>
          </p:cNvPr>
          <p:cNvSpPr txBox="1"/>
          <p:nvPr/>
        </p:nvSpPr>
        <p:spPr>
          <a:xfrm>
            <a:off x="9329056" y="6027677"/>
            <a:ext cx="415834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flag that loads image in grayscale format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F66BA-0859-539F-BEA0-AB2D13834E7F}"/>
              </a:ext>
            </a:extLst>
          </p:cNvPr>
          <p:cNvSpPr txBox="1"/>
          <p:nvPr/>
        </p:nvSpPr>
        <p:spPr>
          <a:xfrm>
            <a:off x="1143000" y="6027677"/>
            <a:ext cx="488768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function to read an image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2BBF80-9E9D-6050-837F-87847BF37057}"/>
              </a:ext>
            </a:extLst>
          </p:cNvPr>
          <p:cNvCxnSpPr>
            <a:stCxn id="5" idx="2"/>
          </p:cNvCxnSpPr>
          <p:nvPr/>
        </p:nvCxnSpPr>
        <p:spPr>
          <a:xfrm flipH="1">
            <a:off x="1752600" y="2201923"/>
            <a:ext cx="1583872" cy="160807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F4D505-A5B3-8DF9-CBCA-7D00F9F647D3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727371" y="2201923"/>
            <a:ext cx="4680857" cy="160807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750D57-EF87-98B8-F75D-351618357C5B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1408228" y="4293695"/>
            <a:ext cx="0" cy="173398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F466D5-1F85-F358-5995-5029ABEDC46C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3586844" y="4267200"/>
            <a:ext cx="234042" cy="176047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816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02ACB-C987-7D2C-6A46-0BC63567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054D18-7412-739A-5298-6FC6911AD5E5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Information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3DCED0-C8F4-94C7-E22A-DD443B757023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2D8E6A-8C57-AC7F-44E8-C2FA5EC05381}"/>
              </a:ext>
            </a:extLst>
          </p:cNvPr>
          <p:cNvSpPr txBox="1"/>
          <p:nvPr/>
        </p:nvSpPr>
        <p:spPr>
          <a:xfrm>
            <a:off x="585216" y="3315064"/>
            <a:ext cx="7315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min_i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max_i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3EF655-1BB6-A755-5F0B-98EB07D28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61492"/>
              </p:ext>
            </p:extLst>
          </p:nvPr>
        </p:nvGraphicFramePr>
        <p:xfrm>
          <a:off x="7315200" y="2398486"/>
          <a:ext cx="6729984" cy="3785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624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372870799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989104294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88669361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752582928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501981031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39902580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262843578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4192190051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650156555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628964455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910343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45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034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228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910972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093719-BFA1-D028-D2C9-20F7C3DA34FF}"/>
              </a:ext>
            </a:extLst>
          </p:cNvPr>
          <p:cNvCxnSpPr>
            <a:cxnSpLocks/>
          </p:cNvCxnSpPr>
          <p:nvPr/>
        </p:nvCxnSpPr>
        <p:spPr>
          <a:xfrm>
            <a:off x="7315200" y="2013858"/>
            <a:ext cx="672998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D4F434-0FF6-C513-B006-89174D15B073}"/>
              </a:ext>
            </a:extLst>
          </p:cNvPr>
          <p:cNvCxnSpPr>
            <a:cxnSpLocks/>
          </p:cNvCxnSpPr>
          <p:nvPr/>
        </p:nvCxnSpPr>
        <p:spPr>
          <a:xfrm flipV="1">
            <a:off x="6934200" y="2398486"/>
            <a:ext cx="0" cy="381725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699F2B-F0D4-61BC-BA60-EA8C45C356D0}"/>
              </a:ext>
            </a:extLst>
          </p:cNvPr>
          <p:cNvSpPr txBox="1"/>
          <p:nvPr/>
        </p:nvSpPr>
        <p:spPr>
          <a:xfrm>
            <a:off x="9988299" y="1567293"/>
            <a:ext cx="13837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width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61313E-FD2C-06CC-4DEC-ED023345D3C2}"/>
              </a:ext>
            </a:extLst>
          </p:cNvPr>
          <p:cNvSpPr txBox="1"/>
          <p:nvPr/>
        </p:nvSpPr>
        <p:spPr>
          <a:xfrm>
            <a:off x="7791125" y="7029271"/>
            <a:ext cx="203083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minimum intensity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48ED9E-95D8-F5E6-F9A8-BDFAA7E22B9A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8795657" y="5355771"/>
            <a:ext cx="10887" cy="167350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EBE400-B3B1-4193-12D1-3CC944216F0A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11734800" y="3233057"/>
            <a:ext cx="5442" cy="3785616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845583B-8ED0-1A23-3DC2-67EDA28A7572}"/>
              </a:ext>
            </a:extLst>
          </p:cNvPr>
          <p:cNvSpPr txBox="1"/>
          <p:nvPr/>
        </p:nvSpPr>
        <p:spPr>
          <a:xfrm rot="16200000">
            <a:off x="6262042" y="4036971"/>
            <a:ext cx="13837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height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53EAC7-27BA-2D32-780C-8D287D5B0DBC}"/>
              </a:ext>
            </a:extLst>
          </p:cNvPr>
          <p:cNvSpPr txBox="1"/>
          <p:nvPr/>
        </p:nvSpPr>
        <p:spPr>
          <a:xfrm>
            <a:off x="10668000" y="7018673"/>
            <a:ext cx="2144484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maximum intensity</a:t>
            </a:r>
          </a:p>
        </p:txBody>
      </p:sp>
    </p:spTree>
    <p:extLst>
      <p:ext uri="{BB962C8B-B14F-4D97-AF65-F5344CB8AC3E}">
        <p14:creationId xmlns:p14="http://schemas.microsoft.com/office/powerpoint/2010/main" val="1460743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B573C-C6C1-B55D-5D75-581759A9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933863-FF80-4E9B-C7E9-03D09A2DA688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Pixels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2F6131-9DB6-2DE7-7FB8-EE009CE99362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F1D8D9-8F90-DC3B-84F6-1B9228A984A5}"/>
              </a:ext>
            </a:extLst>
          </p:cNvPr>
          <p:cNvSpPr txBox="1"/>
          <p:nvPr/>
        </p:nvSpPr>
        <p:spPr>
          <a:xfrm>
            <a:off x="457200" y="3422302"/>
            <a:ext cx="7315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EEB518-BA34-FE83-6B92-A31094FD2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411160"/>
              </p:ext>
            </p:extLst>
          </p:nvPr>
        </p:nvGraphicFramePr>
        <p:xfrm>
          <a:off x="7239000" y="2398486"/>
          <a:ext cx="6729984" cy="3785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624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372870799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989104294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88669361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752582928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3501981031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39902580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262843578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4192190051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650156555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1628964455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910343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45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034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228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910972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9A9F11-6798-D483-C95E-CAA2C2824462}"/>
              </a:ext>
            </a:extLst>
          </p:cNvPr>
          <p:cNvCxnSpPr>
            <a:cxnSpLocks/>
          </p:cNvCxnSpPr>
          <p:nvPr/>
        </p:nvCxnSpPr>
        <p:spPr>
          <a:xfrm>
            <a:off x="7239000" y="2013858"/>
            <a:ext cx="6729984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612615-AB48-899C-C703-B5792A75DB0C}"/>
              </a:ext>
            </a:extLst>
          </p:cNvPr>
          <p:cNvCxnSpPr>
            <a:cxnSpLocks/>
          </p:cNvCxnSpPr>
          <p:nvPr/>
        </p:nvCxnSpPr>
        <p:spPr>
          <a:xfrm flipV="1">
            <a:off x="6858000" y="2398486"/>
            <a:ext cx="0" cy="3817255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BC0211-34BA-0B1D-0DC5-FF7DF34CDD9A}"/>
              </a:ext>
            </a:extLst>
          </p:cNvPr>
          <p:cNvSpPr txBox="1"/>
          <p:nvPr/>
        </p:nvSpPr>
        <p:spPr>
          <a:xfrm>
            <a:off x="9912099" y="1567293"/>
            <a:ext cx="13837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width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CB5A7A-809C-69F6-0B26-D25A53B6B913}"/>
              </a:ext>
            </a:extLst>
          </p:cNvPr>
          <p:cNvSpPr txBox="1"/>
          <p:nvPr/>
        </p:nvSpPr>
        <p:spPr>
          <a:xfrm rot="16200000">
            <a:off x="6185842" y="4036971"/>
            <a:ext cx="13837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height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90A43-A204-9578-E991-73CB3F3D22DA}"/>
              </a:ext>
            </a:extLst>
          </p:cNvPr>
          <p:cNvSpPr txBox="1"/>
          <p:nvPr/>
        </p:nvSpPr>
        <p:spPr>
          <a:xfrm>
            <a:off x="6640645" y="6257812"/>
            <a:ext cx="47418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/>
              <a:t>i</a:t>
            </a:r>
            <a:endParaRPr lang="en-US" sz="3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4B2BB0-393A-CE11-AA80-25E78B37112E}"/>
              </a:ext>
            </a:extLst>
          </p:cNvPr>
          <p:cNvSpPr txBox="1"/>
          <p:nvPr/>
        </p:nvSpPr>
        <p:spPr>
          <a:xfrm>
            <a:off x="14080020" y="1688514"/>
            <a:ext cx="47418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j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E3A4F4-77E8-4F24-9011-A4F9F073B247}"/>
              </a:ext>
            </a:extLst>
          </p:cNvPr>
          <p:cNvSpPr txBox="1"/>
          <p:nvPr/>
        </p:nvSpPr>
        <p:spPr>
          <a:xfrm>
            <a:off x="7515577" y="7029271"/>
            <a:ext cx="233258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image[6, 3]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D339FA-1F3E-E516-8DF3-BE4D24590D36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8681871" y="5343872"/>
            <a:ext cx="1" cy="1685399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3FAD96-FE85-4578-50BE-10A70DFC67FB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11616579" y="3243655"/>
            <a:ext cx="874" cy="3785616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691584C-78A4-E295-4C37-8792037588C2}"/>
              </a:ext>
            </a:extLst>
          </p:cNvPr>
          <p:cNvSpPr txBox="1"/>
          <p:nvPr/>
        </p:nvSpPr>
        <p:spPr>
          <a:xfrm>
            <a:off x="10339905" y="7029271"/>
            <a:ext cx="255509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image[1, 10]</a:t>
            </a:r>
          </a:p>
        </p:txBody>
      </p:sp>
    </p:spTree>
    <p:extLst>
      <p:ext uri="{BB962C8B-B14F-4D97-AF65-F5344CB8AC3E}">
        <p14:creationId xmlns:p14="http://schemas.microsoft.com/office/powerpoint/2010/main" val="786772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38326-04E8-2A0E-A997-A57FA61C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CBEA86-098A-D251-4249-A18CF38C8140}"/>
              </a:ext>
            </a:extLst>
          </p:cNvPr>
          <p:cNvSpPr/>
          <p:nvPr/>
        </p:nvSpPr>
        <p:spPr>
          <a:xfrm>
            <a:off x="5219698" y="3631103"/>
            <a:ext cx="1148445" cy="483695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9F5E2-A172-5D41-B7C0-D497AF8774F7}"/>
              </a:ext>
            </a:extLst>
          </p:cNvPr>
          <p:cNvSpPr/>
          <p:nvPr/>
        </p:nvSpPr>
        <p:spPr>
          <a:xfrm>
            <a:off x="2841171" y="3631104"/>
            <a:ext cx="1034143" cy="48369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5F1926-0702-6AE1-4146-BB53102558B5}"/>
              </a:ext>
            </a:extLst>
          </p:cNvPr>
          <p:cNvSpPr/>
          <p:nvPr/>
        </p:nvSpPr>
        <p:spPr>
          <a:xfrm>
            <a:off x="609599" y="3631105"/>
            <a:ext cx="2079171" cy="483695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E57BA-40B9-43CB-9C6B-CF28DCA0D637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an Image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9FEC28-0DCF-B86B-4F7F-0A000BF7A145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E4A266-68CE-7202-F0F0-90A53A64B34A}"/>
              </a:ext>
            </a:extLst>
          </p:cNvPr>
          <p:cNvSpPr txBox="1"/>
          <p:nvPr/>
        </p:nvSpPr>
        <p:spPr>
          <a:xfrm>
            <a:off x="609599" y="3604290"/>
            <a:ext cx="7315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imshow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cmap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"gray"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"Retina : OCT"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"off"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B09AA2-5357-A964-2742-9858F67A9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708" y="1645920"/>
            <a:ext cx="6346092" cy="5486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608DCD-B3FA-BC44-8ECE-3C3E96389AF5}"/>
              </a:ext>
            </a:extLst>
          </p:cNvPr>
          <p:cNvSpPr txBox="1"/>
          <p:nvPr/>
        </p:nvSpPr>
        <p:spPr>
          <a:xfrm>
            <a:off x="239486" y="1381288"/>
            <a:ext cx="333102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display an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22C4B-1371-3A5C-B734-7A89B5253E6E}"/>
              </a:ext>
            </a:extLst>
          </p:cNvPr>
          <p:cNvSpPr txBox="1"/>
          <p:nvPr/>
        </p:nvSpPr>
        <p:spPr>
          <a:xfrm>
            <a:off x="3957098" y="1381288"/>
            <a:ext cx="2900902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image 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AEC30-5E43-B6AA-06FC-47A970701E89}"/>
              </a:ext>
            </a:extLst>
          </p:cNvPr>
          <p:cNvSpPr txBox="1"/>
          <p:nvPr/>
        </p:nvSpPr>
        <p:spPr>
          <a:xfrm>
            <a:off x="5407549" y="2492789"/>
            <a:ext cx="203004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color map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D99939-55E1-9AF6-8738-41B6D448F3B6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611087" y="2027619"/>
            <a:ext cx="293914" cy="157667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A89419-6B8B-30EB-8D13-2F961165DD91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5783036" y="3139120"/>
            <a:ext cx="639536" cy="49198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76490A-7AFA-547B-EB3C-5B75D36952B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341914" y="2027619"/>
            <a:ext cx="2065635" cy="160348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19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0B35-7CAB-E6DE-C750-F26CAA8F4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D11A50E-E4C6-7BA8-A0C5-0CE2ADBF4619}"/>
              </a:ext>
            </a:extLst>
          </p:cNvPr>
          <p:cNvSpPr/>
          <p:nvPr/>
        </p:nvSpPr>
        <p:spPr>
          <a:xfrm>
            <a:off x="9568543" y="3892715"/>
            <a:ext cx="1045028" cy="48369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CBBC77-678D-03F6-5453-002349BB62F5}"/>
              </a:ext>
            </a:extLst>
          </p:cNvPr>
          <p:cNvSpPr/>
          <p:nvPr/>
        </p:nvSpPr>
        <p:spPr>
          <a:xfrm>
            <a:off x="6117771" y="3879203"/>
            <a:ext cx="3091540" cy="483695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392E5E-94E9-FE69-00D4-79300EA2A1C7}"/>
              </a:ext>
            </a:extLst>
          </p:cNvPr>
          <p:cNvSpPr/>
          <p:nvPr/>
        </p:nvSpPr>
        <p:spPr>
          <a:xfrm>
            <a:off x="3717475" y="3874599"/>
            <a:ext cx="2193468" cy="483695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404AA-A45B-E612-8B97-CBCF65EA0E62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an Image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D8E8A5-DC92-6052-AF17-C80A403F741E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ABCB5DC-6363-6AF7-6BB9-01CCC6CBEE1E}"/>
              </a:ext>
            </a:extLst>
          </p:cNvPr>
          <p:cNvSpPr txBox="1"/>
          <p:nvPr/>
        </p:nvSpPr>
        <p:spPr>
          <a:xfrm>
            <a:off x="3657600" y="3842128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imwrite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"retina_oct.png"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68F44-4C34-A1DC-47EB-59978C221443}"/>
              </a:ext>
            </a:extLst>
          </p:cNvPr>
          <p:cNvSpPr txBox="1"/>
          <p:nvPr/>
        </p:nvSpPr>
        <p:spPr>
          <a:xfrm>
            <a:off x="8599714" y="1577001"/>
            <a:ext cx="2982686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image variable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A1A776-39DF-DE65-88FD-AB4C0B0D0ABF}"/>
              </a:ext>
            </a:extLst>
          </p:cNvPr>
          <p:cNvSpPr txBox="1"/>
          <p:nvPr/>
        </p:nvSpPr>
        <p:spPr>
          <a:xfrm>
            <a:off x="8599714" y="6136887"/>
            <a:ext cx="4484911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name of the output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378E26-A4FD-AC39-8C94-582BE20CE4B3}"/>
              </a:ext>
            </a:extLst>
          </p:cNvPr>
          <p:cNvSpPr txBox="1"/>
          <p:nvPr/>
        </p:nvSpPr>
        <p:spPr>
          <a:xfrm>
            <a:off x="1143001" y="6136887"/>
            <a:ext cx="4887687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function to save an image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B42B9F-1E45-4466-AD19-E781948090A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0091057" y="2223332"/>
            <a:ext cx="0" cy="165126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FA116D-7F8F-4A47-8197-C175596E7993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3586845" y="4358294"/>
            <a:ext cx="1268184" cy="177859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63537FE-FCC1-BA08-155A-CA6347BC0F9E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7696200" y="4376410"/>
            <a:ext cx="3145970" cy="176047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A5EAFF7E-412C-FF29-3EA4-1D2AF6C7E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032679"/>
            <a:ext cx="13716000" cy="46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89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8239D2-7F88-A7C2-6492-A35CD05A94C1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Processing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C4C190-CF71-8CA5-E1EE-95E1E1940DCF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87E27D-DA67-EF5C-8534-E9B07FBCD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520351"/>
              </p:ext>
            </p:extLst>
          </p:nvPr>
        </p:nvGraphicFramePr>
        <p:xfrm>
          <a:off x="1621971" y="3406166"/>
          <a:ext cx="3657600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444231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937012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720547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129483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598242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0287118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4290192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249303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9981085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5352824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47607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866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83026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53206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13723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57881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72869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877304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3339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7319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17C5D1-3489-8C87-A277-20A4367CB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426804"/>
              </p:ext>
            </p:extLst>
          </p:nvPr>
        </p:nvGraphicFramePr>
        <p:xfrm>
          <a:off x="9546771" y="3406166"/>
          <a:ext cx="3657600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444231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937012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720547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129483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598242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0287118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4290192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249303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9981085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5352824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4760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8661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8302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5320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1372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5788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7286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87730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333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73190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6FA53C0-C6F9-F25E-3F90-B558ED1DEE19}"/>
              </a:ext>
            </a:extLst>
          </p:cNvPr>
          <p:cNvSpPr/>
          <p:nvPr/>
        </p:nvSpPr>
        <p:spPr>
          <a:xfrm>
            <a:off x="3450771" y="3264030"/>
            <a:ext cx="7620000" cy="1850574"/>
          </a:xfrm>
          <a:custGeom>
            <a:avLst/>
            <a:gdLst>
              <a:gd name="csX0" fmla="*/ 0 w 7456714"/>
              <a:gd name="csY0" fmla="*/ 1839688 h 1850574"/>
              <a:gd name="csX1" fmla="*/ 3907971 w 7456714"/>
              <a:gd name="csY1" fmla="*/ 2 h 1850574"/>
              <a:gd name="csX2" fmla="*/ 7456714 w 7456714"/>
              <a:gd name="csY2" fmla="*/ 1850574 h 1850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56714" h="1850574">
                <a:moveTo>
                  <a:pt x="0" y="1839688"/>
                </a:moveTo>
                <a:cubicBezTo>
                  <a:pt x="1332592" y="918938"/>
                  <a:pt x="2665185" y="-1812"/>
                  <a:pt x="3907971" y="2"/>
                </a:cubicBezTo>
                <a:cubicBezTo>
                  <a:pt x="5150757" y="1816"/>
                  <a:pt x="6894285" y="1596574"/>
                  <a:pt x="7456714" y="1850574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051818-25C4-C6F0-67AB-64EED3BA0A08}"/>
              </a:ext>
            </a:extLst>
          </p:cNvPr>
          <p:cNvSpPr txBox="1"/>
          <p:nvPr/>
        </p:nvSpPr>
        <p:spPr>
          <a:xfrm>
            <a:off x="6858000" y="2802365"/>
            <a:ext cx="914400" cy="92333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A6BD1A-69B4-AD02-4345-B6AE9F52C161}"/>
              </a:ext>
            </a:extLst>
          </p:cNvPr>
          <p:cNvSpPr txBox="1"/>
          <p:nvPr/>
        </p:nvSpPr>
        <p:spPr>
          <a:xfrm>
            <a:off x="2506384" y="7612407"/>
            <a:ext cx="1736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Input Image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4A64A5-1BEF-2A29-C82F-75CEA38A59FA}"/>
              </a:ext>
            </a:extLst>
          </p:cNvPr>
          <p:cNvSpPr txBox="1"/>
          <p:nvPr/>
        </p:nvSpPr>
        <p:spPr>
          <a:xfrm>
            <a:off x="10548257" y="7612407"/>
            <a:ext cx="189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Output Image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3378E6-C949-C07E-D769-7A9C24FDFC7A}"/>
              </a:ext>
            </a:extLst>
          </p:cNvPr>
          <p:cNvSpPr txBox="1"/>
          <p:nvPr/>
        </p:nvSpPr>
        <p:spPr>
          <a:xfrm>
            <a:off x="174171" y="1232426"/>
            <a:ext cx="14173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Pixel-wise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Each output pixel depends only on the intensity of the corresponding input pixel</a:t>
            </a:r>
          </a:p>
        </p:txBody>
      </p:sp>
    </p:spTree>
    <p:extLst>
      <p:ext uri="{BB962C8B-B14F-4D97-AF65-F5344CB8AC3E}">
        <p14:creationId xmlns:p14="http://schemas.microsoft.com/office/powerpoint/2010/main" val="1591601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83C2B-28E4-0DA4-B481-8365EAF4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DA6894-7AA0-D47C-C553-83241332CEDB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Transformation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F0FA1E-777C-9C44-0A4C-FE3706DF1EEA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BE42E2E-3EBB-605E-2235-31B29E376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371600"/>
            <a:ext cx="6489191" cy="6400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053AB5-2BA7-1E3A-ED6F-1CFBE8ECDFF9}"/>
                  </a:ext>
                </a:extLst>
              </p:cNvPr>
              <p:cNvSpPr txBox="1"/>
              <p:nvPr/>
            </p:nvSpPr>
            <p:spPr>
              <a:xfrm>
                <a:off x="1039315" y="3140839"/>
                <a:ext cx="6275885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Input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Output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Transformation function,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3600" dirty="0"/>
              </a:p>
              <a:p>
                <a:endParaRPr 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=255−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053AB5-2BA7-1E3A-ED6F-1CFBE8ECD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315" y="3140839"/>
                <a:ext cx="6275885" cy="2862322"/>
              </a:xfrm>
              <a:prstGeom prst="rect">
                <a:avLst/>
              </a:prstGeom>
              <a:blipFill>
                <a:blip r:embed="rId3"/>
                <a:stretch>
                  <a:fillRect l="-2913" t="-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1248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70774-B026-AB05-E73B-482377730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F81828-857C-D2B1-8EE3-883039C7053A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Transformation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E06DEE-801C-9BBD-6F2A-4CADE32E100E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1A1745-07DC-736E-B8EE-16AC8A449FC7}"/>
                  </a:ext>
                </a:extLst>
              </p:cNvPr>
              <p:cNvSpPr txBox="1"/>
              <p:nvPr/>
            </p:nvSpPr>
            <p:spPr>
              <a:xfrm>
                <a:off x="1039315" y="2259791"/>
                <a:ext cx="6275885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Input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Output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Transformation function,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3600" dirty="0"/>
              </a:p>
              <a:p>
                <a:endParaRPr 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=255−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1A1745-07DC-736E-B8EE-16AC8A449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315" y="2259791"/>
                <a:ext cx="6275885" cy="2862322"/>
              </a:xfrm>
              <a:prstGeom prst="rect">
                <a:avLst/>
              </a:prstGeom>
              <a:blipFill>
                <a:blip r:embed="rId2"/>
                <a:stretch>
                  <a:fillRect l="-2913" t="-3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56A5870-0F47-1776-D065-A1FE596E8A76}"/>
              </a:ext>
            </a:extLst>
          </p:cNvPr>
          <p:cNvSpPr txBox="1"/>
          <p:nvPr/>
        </p:nvSpPr>
        <p:spPr>
          <a:xfrm>
            <a:off x="6756532" y="4336754"/>
            <a:ext cx="7627683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(height):</a:t>
            </a:r>
          </a:p>
          <a:p>
            <a:pPr>
              <a:buNone/>
            </a:pPr>
            <a:r>
              <a:rPr lang="en-US" sz="2800" dirty="0">
                <a:solidFill>
                  <a:srgbClr val="202020"/>
                </a:solidFill>
                <a:latin typeface="Consolas" panose="020B0609020204030204" pitchFamily="49" charset="0"/>
              </a:rPr>
              <a:t> 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(width):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  negative[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image[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83AF6-1150-B47B-C545-DBDFA8DA046A}"/>
              </a:ext>
            </a:extLst>
          </p:cNvPr>
          <p:cNvSpPr txBox="1"/>
          <p:nvPr/>
        </p:nvSpPr>
        <p:spPr>
          <a:xfrm>
            <a:off x="4685488" y="6870710"/>
            <a:ext cx="4142088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endParaRPr lang="en-US" sz="2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227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C129-4D61-5C76-6721-9008EE9E4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185D74-EDA9-4603-D241-8A67A7DA01A8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Transformation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4852A1-1514-C9EB-01CC-2C59583FA378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E999DC0-C6D5-D5B8-BE07-E280C74AC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45920"/>
            <a:ext cx="5486400" cy="548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1FD1B-E0F2-A1E2-9790-A2C013CCC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1645920"/>
            <a:ext cx="5486400" cy="5486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9C61B-3F0F-39B5-B63F-F47EF2573244}"/>
              </a:ext>
            </a:extLst>
          </p:cNvPr>
          <p:cNvSpPr txBox="1"/>
          <p:nvPr/>
        </p:nvSpPr>
        <p:spPr>
          <a:xfrm>
            <a:off x="2191149" y="7132320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Original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4C5CD4-E671-0572-349D-F45DD0036E37}"/>
              </a:ext>
            </a:extLst>
          </p:cNvPr>
          <p:cNvSpPr txBox="1"/>
          <p:nvPr/>
        </p:nvSpPr>
        <p:spPr>
          <a:xfrm>
            <a:off x="10420752" y="7132320"/>
            <a:ext cx="2429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Transformed Image</a:t>
            </a:r>
          </a:p>
        </p:txBody>
      </p:sp>
    </p:spTree>
    <p:extLst>
      <p:ext uri="{BB962C8B-B14F-4D97-AF65-F5344CB8AC3E}">
        <p14:creationId xmlns:p14="http://schemas.microsoft.com/office/powerpoint/2010/main" val="296729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FDBBC-7BB9-7E65-4708-6275FA2E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D1406A-066F-AB4B-13E3-DFF926A7D270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31329A-FB4D-A95D-E1D4-9018F55B4C9D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8A650-2CAB-0984-8DB5-CA058296BC6F}"/>
                  </a:ext>
                </a:extLst>
              </p:cNvPr>
              <p:cNvSpPr txBox="1"/>
              <p:nvPr/>
            </p:nvSpPr>
            <p:spPr>
              <a:xfrm>
                <a:off x="1039315" y="3140839"/>
                <a:ext cx="6275885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Input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Output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Transformation function,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3600" dirty="0"/>
              </a:p>
              <a:p>
                <a:endParaRPr 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𝑐𝑙𝑜𝑔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endParaRPr lang="en-US" sz="3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78A650-2CAB-0984-8DB5-CA058296B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315" y="3140839"/>
                <a:ext cx="6275885" cy="3416320"/>
              </a:xfrm>
              <a:prstGeom prst="rect">
                <a:avLst/>
              </a:prstGeom>
              <a:blipFill>
                <a:blip r:embed="rId2"/>
                <a:stretch>
                  <a:fillRect l="-2913" t="-2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E46CBDC-C8CB-A10E-23E3-749CEEE9B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371600"/>
            <a:ext cx="6489205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2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FAD43-12DA-0926-FECC-1592A903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75BC94-6701-CB88-49E4-96D29D53E40F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14EFF2-9D46-19CA-6D53-17FA7AC7542C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DC922F-6605-C2C3-85A4-0623A4B1A14E}"/>
                  </a:ext>
                </a:extLst>
              </p:cNvPr>
              <p:cNvSpPr txBox="1"/>
              <p:nvPr/>
            </p:nvSpPr>
            <p:spPr>
              <a:xfrm>
                <a:off x="703384" y="1789597"/>
                <a:ext cx="6275885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Input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Output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Transformation function,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3600" dirty="0"/>
              </a:p>
              <a:p>
                <a:endParaRPr 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𝑐𝑙𝑜𝑔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endParaRPr lang="en-US" sz="3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DC922F-6605-C2C3-85A4-0623A4B1A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84" y="1789597"/>
                <a:ext cx="6275885" cy="3416320"/>
              </a:xfrm>
              <a:prstGeom prst="rect">
                <a:avLst/>
              </a:prstGeom>
              <a:blipFill>
                <a:blip r:embed="rId2"/>
                <a:stretch>
                  <a:fillRect l="-2913" t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09810DA-B6DD-1D8A-0DFD-26C8634FE0B2}"/>
              </a:ext>
            </a:extLst>
          </p:cNvPr>
          <p:cNvSpPr txBox="1"/>
          <p:nvPr/>
        </p:nvSpPr>
        <p:spPr>
          <a:xfrm>
            <a:off x="8264770" y="2645256"/>
            <a:ext cx="5662246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(height):</a:t>
            </a:r>
          </a:p>
          <a:p>
            <a:pPr>
              <a:buNone/>
            </a:pPr>
            <a:r>
              <a:rPr lang="en-US" sz="2800" dirty="0">
                <a:solidFill>
                  <a:srgbClr val="202020"/>
                </a:solidFill>
                <a:latin typeface="Consolas" panose="020B0609020204030204" pitchFamily="49" charset="0"/>
              </a:rPr>
              <a:t> 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(width):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int(image[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])       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c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np.log(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log_image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B4B2A-5D37-28C2-3A16-F943473994B6}"/>
              </a:ext>
            </a:extLst>
          </p:cNvPr>
          <p:cNvSpPr txBox="1"/>
          <p:nvPr/>
        </p:nvSpPr>
        <p:spPr>
          <a:xfrm>
            <a:off x="1524000" y="6440003"/>
            <a:ext cx="11746523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32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3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float32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pPr>
              <a:buNone/>
            </a:pP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4118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7B6F-519F-539C-F8CF-1C522BEC0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FD683E-4499-FEDD-4375-E1371683E5E6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FF2662-237A-5551-3B69-09C4F6A5492C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3AAFC4A-5AEF-6711-DC0A-93D68D3FE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1645920"/>
            <a:ext cx="5486400" cy="548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9544B1-468A-8A13-997D-127C0B5EF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45920"/>
            <a:ext cx="5486400" cy="548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5E6667-661E-47BB-FA7C-443A69A93286}"/>
              </a:ext>
            </a:extLst>
          </p:cNvPr>
          <p:cNvSpPr txBox="1"/>
          <p:nvPr/>
        </p:nvSpPr>
        <p:spPr>
          <a:xfrm>
            <a:off x="2191149" y="7132320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Original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F49DE-DA78-AC37-7AC3-F0052F500E23}"/>
              </a:ext>
            </a:extLst>
          </p:cNvPr>
          <p:cNvSpPr txBox="1"/>
          <p:nvPr/>
        </p:nvSpPr>
        <p:spPr>
          <a:xfrm>
            <a:off x="10420752" y="7132320"/>
            <a:ext cx="2429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Transformed Image</a:t>
            </a:r>
          </a:p>
        </p:txBody>
      </p:sp>
    </p:spTree>
    <p:extLst>
      <p:ext uri="{BB962C8B-B14F-4D97-AF65-F5344CB8AC3E}">
        <p14:creationId xmlns:p14="http://schemas.microsoft.com/office/powerpoint/2010/main" val="4216477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0B066-3DFD-D54C-7C71-575DFB87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BDADCF-84C1-5D91-74EC-EE38A77F28CF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 Transformation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5A13E4-224F-012E-BEAB-421516D51247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A30646-90BC-91B9-1306-B075593B286A}"/>
                  </a:ext>
                </a:extLst>
              </p:cNvPr>
              <p:cNvSpPr txBox="1"/>
              <p:nvPr/>
            </p:nvSpPr>
            <p:spPr>
              <a:xfrm>
                <a:off x="1039315" y="3140839"/>
                <a:ext cx="5805885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Input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0, ..., 1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Output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0,…,1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Transformation function,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3600" dirty="0"/>
              </a:p>
              <a:p>
                <a:endParaRPr 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p>
                    </m:oMath>
                  </m:oMathPara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A30646-90BC-91B9-1306-B075593B2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315" y="3140839"/>
                <a:ext cx="5805885" cy="2862322"/>
              </a:xfrm>
              <a:prstGeom prst="rect">
                <a:avLst/>
              </a:prstGeom>
              <a:blipFill>
                <a:blip r:embed="rId2"/>
                <a:stretch>
                  <a:fillRect l="-3148" t="-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A43BFBB-43F7-A007-8B55-3170906D5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371600"/>
            <a:ext cx="6489205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89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FBB9E-C36B-9342-DFDA-15542F8FE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3767A2-2A16-31E0-3242-EC0B1927CC18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 Transformation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2D0AF2-344A-2753-624E-EC18045652B3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72E5CB-6AD6-083F-A6B7-138F337E5ED6}"/>
                  </a:ext>
                </a:extLst>
              </p:cNvPr>
              <p:cNvSpPr txBox="1"/>
              <p:nvPr/>
            </p:nvSpPr>
            <p:spPr>
              <a:xfrm>
                <a:off x="371099" y="1252478"/>
                <a:ext cx="5805885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Input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0,…,1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Output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0,…,1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Transformation function,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3600" dirty="0"/>
              </a:p>
              <a:p>
                <a:endParaRPr 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p>
                    </m:oMath>
                  </m:oMathPara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72E5CB-6AD6-083F-A6B7-138F337E5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99" y="1252478"/>
                <a:ext cx="5805885" cy="2862322"/>
              </a:xfrm>
              <a:prstGeom prst="rect">
                <a:avLst/>
              </a:prstGeom>
              <a:blipFill>
                <a:blip r:embed="rId2"/>
                <a:stretch>
                  <a:fillRect l="-3256" t="-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AA14010-7A56-4D91-AEE5-38AB604754C9}"/>
              </a:ext>
            </a:extLst>
          </p:cNvPr>
          <p:cNvSpPr txBox="1"/>
          <p:nvPr/>
        </p:nvSpPr>
        <p:spPr>
          <a:xfrm>
            <a:off x="4654062" y="4269997"/>
            <a:ext cx="9800492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(height):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(width):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image[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endParaRPr lang="en-US" sz="2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c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gamma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gamma_image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5349B-3C9D-813B-344D-D8CF0F6CD4BB}"/>
              </a:ext>
            </a:extLst>
          </p:cNvPr>
          <p:cNvSpPr txBox="1"/>
          <p:nvPr/>
        </p:nvSpPr>
        <p:spPr>
          <a:xfrm>
            <a:off x="457200" y="7132320"/>
            <a:ext cx="13661424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3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32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gamma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32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US" sz="3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2410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A2D57-5C92-E66A-E224-C6E988FD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40B1E6-C86C-BF42-0616-68E2C83B490B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 Transformation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93BC7C-7B98-8DF2-284C-FBDD2129FEF5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B7E7478-881C-0070-2AA5-E2FD5AC9B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514" y="2011680"/>
            <a:ext cx="4572000" cy="457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DE80B6-584E-22FE-8359-E3C554AC6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2011680"/>
            <a:ext cx="4572000" cy="45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059578-9FDA-34C4-6D06-3853A021AE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2011680"/>
            <a:ext cx="457200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340AD2-2586-F352-682D-2667528858BB}"/>
                  </a:ext>
                </a:extLst>
              </p:cNvPr>
              <p:cNvSpPr txBox="1"/>
              <p:nvPr/>
            </p:nvSpPr>
            <p:spPr>
              <a:xfrm>
                <a:off x="902403" y="6581503"/>
                <a:ext cx="33028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Fig: Transformed Image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= 0.4)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340AD2-2586-F352-682D-266752885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03" y="6581503"/>
                <a:ext cx="3302827" cy="369332"/>
              </a:xfrm>
              <a:prstGeom prst="rect">
                <a:avLst/>
              </a:prstGeom>
              <a:blipFill>
                <a:blip r:embed="rId5"/>
                <a:stretch>
                  <a:fillRect l="-1476" t="-10000" r="-92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61B3E3-9967-4A8F-146E-70A5E2BF4C3B}"/>
                  </a:ext>
                </a:extLst>
              </p:cNvPr>
              <p:cNvSpPr txBox="1"/>
              <p:nvPr/>
            </p:nvSpPr>
            <p:spPr>
              <a:xfrm>
                <a:off x="5774397" y="6566263"/>
                <a:ext cx="33028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Fig: Transformed Image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= 1.0)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061B3E3-9967-4A8F-146E-70A5E2BF4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397" y="6566263"/>
                <a:ext cx="3302827" cy="369332"/>
              </a:xfrm>
              <a:prstGeom prst="rect">
                <a:avLst/>
              </a:prstGeom>
              <a:blipFill>
                <a:blip r:embed="rId6"/>
                <a:stretch>
                  <a:fillRect l="-1476" t="-8197" r="-92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8D346B-4532-D2B1-1320-5FCA4A9FECCE}"/>
                  </a:ext>
                </a:extLst>
              </p:cNvPr>
              <p:cNvSpPr txBox="1"/>
              <p:nvPr/>
            </p:nvSpPr>
            <p:spPr>
              <a:xfrm>
                <a:off x="10708870" y="6581503"/>
                <a:ext cx="33028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Fig: Transformed Image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= 2.5)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8D346B-4532-D2B1-1320-5FCA4A9FE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8870" y="6581503"/>
                <a:ext cx="3302827" cy="369332"/>
              </a:xfrm>
              <a:prstGeom prst="rect">
                <a:avLst/>
              </a:prstGeom>
              <a:blipFill>
                <a:blip r:embed="rId7"/>
                <a:stretch>
                  <a:fillRect l="-1661" t="-10000" r="-73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844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E05E2A-BC1F-CA1D-87A5-541139E1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A3F26C-751E-B5DA-31D8-7A752AD28BE0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Bit-Plane Slicing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0D19E0-FF8E-B9A4-535F-20DB1DD2D6B3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FB7358E4-A72D-5839-D717-C904D08DEF63}"/>
              </a:ext>
            </a:extLst>
          </p:cNvPr>
          <p:cNvSpPr/>
          <p:nvPr/>
        </p:nvSpPr>
        <p:spPr>
          <a:xfrm>
            <a:off x="2209800" y="6198325"/>
            <a:ext cx="4572000" cy="1371600"/>
          </a:xfrm>
          <a:prstGeom prst="parallelogram">
            <a:avLst>
              <a:gd name="adj" fmla="val 82142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549DCB1E-BC0E-D612-D2BC-37FBDBEFA304}"/>
              </a:ext>
            </a:extLst>
          </p:cNvPr>
          <p:cNvSpPr/>
          <p:nvPr/>
        </p:nvSpPr>
        <p:spPr>
          <a:xfrm>
            <a:off x="2209800" y="5924005"/>
            <a:ext cx="4572000" cy="1371600"/>
          </a:xfrm>
          <a:prstGeom prst="parallelogram">
            <a:avLst>
              <a:gd name="adj" fmla="val 8214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arallelogram 42">
            <a:extLst>
              <a:ext uri="{FF2B5EF4-FFF2-40B4-BE49-F238E27FC236}">
                <a16:creationId xmlns:a16="http://schemas.microsoft.com/office/drawing/2014/main" id="{E9E1B47E-842A-797A-88CD-955078241108}"/>
              </a:ext>
            </a:extLst>
          </p:cNvPr>
          <p:cNvSpPr/>
          <p:nvPr/>
        </p:nvSpPr>
        <p:spPr>
          <a:xfrm>
            <a:off x="2209800" y="5649685"/>
            <a:ext cx="4572000" cy="1371600"/>
          </a:xfrm>
          <a:prstGeom prst="parallelogram">
            <a:avLst>
              <a:gd name="adj" fmla="val 8214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arallelogram 43">
            <a:extLst>
              <a:ext uri="{FF2B5EF4-FFF2-40B4-BE49-F238E27FC236}">
                <a16:creationId xmlns:a16="http://schemas.microsoft.com/office/drawing/2014/main" id="{B22DEC16-BBD3-2EA1-7476-ADAB4BC9ECC8}"/>
              </a:ext>
            </a:extLst>
          </p:cNvPr>
          <p:cNvSpPr/>
          <p:nvPr/>
        </p:nvSpPr>
        <p:spPr>
          <a:xfrm>
            <a:off x="2209800" y="5375365"/>
            <a:ext cx="4572000" cy="1371600"/>
          </a:xfrm>
          <a:prstGeom prst="parallelogram">
            <a:avLst>
              <a:gd name="adj" fmla="val 8214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arallelogram 44">
            <a:extLst>
              <a:ext uri="{FF2B5EF4-FFF2-40B4-BE49-F238E27FC236}">
                <a16:creationId xmlns:a16="http://schemas.microsoft.com/office/drawing/2014/main" id="{B4B0D8D1-8854-7078-07D3-6A55C5F89152}"/>
              </a:ext>
            </a:extLst>
          </p:cNvPr>
          <p:cNvSpPr/>
          <p:nvPr/>
        </p:nvSpPr>
        <p:spPr>
          <a:xfrm>
            <a:off x="2209800" y="5101045"/>
            <a:ext cx="4572000" cy="1371600"/>
          </a:xfrm>
          <a:prstGeom prst="parallelogram">
            <a:avLst>
              <a:gd name="adj" fmla="val 82142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arallelogram 45">
            <a:extLst>
              <a:ext uri="{FF2B5EF4-FFF2-40B4-BE49-F238E27FC236}">
                <a16:creationId xmlns:a16="http://schemas.microsoft.com/office/drawing/2014/main" id="{A59A8CB5-BED5-0E9A-253C-FCC283481032}"/>
              </a:ext>
            </a:extLst>
          </p:cNvPr>
          <p:cNvSpPr/>
          <p:nvPr/>
        </p:nvSpPr>
        <p:spPr>
          <a:xfrm>
            <a:off x="2209800" y="4826725"/>
            <a:ext cx="4572000" cy="1371600"/>
          </a:xfrm>
          <a:prstGeom prst="parallelogram">
            <a:avLst>
              <a:gd name="adj" fmla="val 82142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arallelogram 33">
            <a:extLst>
              <a:ext uri="{FF2B5EF4-FFF2-40B4-BE49-F238E27FC236}">
                <a16:creationId xmlns:a16="http://schemas.microsoft.com/office/drawing/2014/main" id="{C199FE08-BD49-2F1C-59D3-16AD0ADE071D}"/>
              </a:ext>
            </a:extLst>
          </p:cNvPr>
          <p:cNvSpPr/>
          <p:nvPr/>
        </p:nvSpPr>
        <p:spPr>
          <a:xfrm>
            <a:off x="2209800" y="4552405"/>
            <a:ext cx="4572000" cy="1371600"/>
          </a:xfrm>
          <a:prstGeom prst="parallelogram">
            <a:avLst>
              <a:gd name="adj" fmla="val 82142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871A5ECF-1A9F-3F3C-6431-5DCA7C14E1BC}"/>
              </a:ext>
            </a:extLst>
          </p:cNvPr>
          <p:cNvSpPr/>
          <p:nvPr/>
        </p:nvSpPr>
        <p:spPr>
          <a:xfrm>
            <a:off x="2209800" y="4278085"/>
            <a:ext cx="4572000" cy="1371600"/>
          </a:xfrm>
          <a:prstGeom prst="parallelogram">
            <a:avLst>
              <a:gd name="adj" fmla="val 8214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F597FC-2640-BF7C-866D-9AB32323AEEB}"/>
              </a:ext>
            </a:extLst>
          </p:cNvPr>
          <p:cNvSpPr txBox="1"/>
          <p:nvPr/>
        </p:nvSpPr>
        <p:spPr>
          <a:xfrm>
            <a:off x="7696202" y="3967630"/>
            <a:ext cx="4995278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Bit plane 8 (most significant)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9EEFC5-7427-D48A-BA42-55C8B9C2C27C}"/>
              </a:ext>
            </a:extLst>
          </p:cNvPr>
          <p:cNvSpPr txBox="1"/>
          <p:nvPr/>
        </p:nvSpPr>
        <p:spPr>
          <a:xfrm>
            <a:off x="7696202" y="5786845"/>
            <a:ext cx="4950394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Bit plane 1 (least significant)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AF877C-FEB1-0ECA-9802-4433C71E1B93}"/>
              </a:ext>
            </a:extLst>
          </p:cNvPr>
          <p:cNvSpPr txBox="1"/>
          <p:nvPr/>
        </p:nvSpPr>
        <p:spPr>
          <a:xfrm>
            <a:off x="576945" y="1426905"/>
            <a:ext cx="47788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 Pixel takes 1 byte (8 bits).</a:t>
            </a: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B12DE2EF-7B2B-BEE4-41A1-5222A050B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472377"/>
              </p:ext>
            </p:extLst>
          </p:nvPr>
        </p:nvGraphicFramePr>
        <p:xfrm>
          <a:off x="1828800" y="2321710"/>
          <a:ext cx="109728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8546385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74897025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7153961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b="1" dirty="0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Decimal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Binary Representation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42747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0000 0000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4699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1111 1111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166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532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709BF4-E8AF-47FB-2BD5-8916ADE66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69CF50-047C-CB72-B20A-C4E8A5E8485E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Bit-Plane Slicing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F7041A-CE9F-C9BE-1154-CF1D9F32B4BE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8AB736-0E8C-9679-5387-2F8FC88A4ED2}"/>
              </a:ext>
            </a:extLst>
          </p:cNvPr>
          <p:cNvSpPr txBox="1"/>
          <p:nvPr/>
        </p:nvSpPr>
        <p:spPr>
          <a:xfrm>
            <a:off x="7684479" y="4591929"/>
            <a:ext cx="6852136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planes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 plane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empty_like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     bit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k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2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     plane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bit</a:t>
            </a:r>
            <a:endParaRPr lang="en-US" sz="2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planes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plane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C0136B-95D0-49F3-C183-46CD16C0A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826008"/>
              </p:ext>
            </p:extLst>
          </p:nvPr>
        </p:nvGraphicFramePr>
        <p:xfrm>
          <a:off x="269630" y="1547447"/>
          <a:ext cx="7315200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1952885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27380011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7985656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Right 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Bitwise 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2800" baseline="30000" dirty="0" err="1">
                          <a:solidFill>
                            <a:schemeClr val="tx1"/>
                          </a:solidFill>
                        </a:rPr>
                        <a:t>th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 bit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07255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1111 1010 &gt;&gt;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highlight>
                            <a:srgbClr val="00FF00"/>
                          </a:highlight>
                        </a:rPr>
                        <a:t>1111 1010</a:t>
                      </a:r>
                      <a:r>
                        <a:rPr lang="en-US" sz="2800" dirty="0"/>
                        <a:t> &amp;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6078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1111 1010 &gt;&gt;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  <a:r>
                        <a:rPr lang="en-US" sz="2800" dirty="0">
                          <a:highlight>
                            <a:srgbClr val="00FF00"/>
                          </a:highlight>
                        </a:rPr>
                        <a:t>111 1101</a:t>
                      </a:r>
                      <a:r>
                        <a:rPr lang="en-US" sz="2800" dirty="0"/>
                        <a:t> &amp;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8514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1111 1010 &gt;&gt;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00</a:t>
                      </a:r>
                      <a:r>
                        <a:rPr lang="en-US" sz="2800" dirty="0">
                          <a:highlight>
                            <a:srgbClr val="00FF00"/>
                          </a:highlight>
                        </a:rPr>
                        <a:t>11 1110</a:t>
                      </a:r>
                      <a:r>
                        <a:rPr lang="en-US" sz="2800" dirty="0"/>
                        <a:t> &amp;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1335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1111 1010 &gt;&gt;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000</a:t>
                      </a:r>
                      <a:r>
                        <a:rPr lang="en-US" sz="2800" dirty="0">
                          <a:highlight>
                            <a:srgbClr val="00FF00"/>
                          </a:highlight>
                        </a:rPr>
                        <a:t>1 1111</a:t>
                      </a:r>
                      <a:r>
                        <a:rPr lang="en-US" sz="2800" dirty="0"/>
                        <a:t> &amp;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67681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1111 1010 &gt;&gt;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0000 </a:t>
                      </a:r>
                      <a:r>
                        <a:rPr lang="en-US" sz="2800" dirty="0">
                          <a:highlight>
                            <a:srgbClr val="00FF00"/>
                          </a:highlight>
                        </a:rPr>
                        <a:t>1111</a:t>
                      </a:r>
                      <a:r>
                        <a:rPr lang="en-US" sz="2800" dirty="0"/>
                        <a:t> &amp;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2905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1111 1010 &gt;&gt;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0000 0</a:t>
                      </a:r>
                      <a:r>
                        <a:rPr lang="en-US" sz="2800" dirty="0">
                          <a:highlight>
                            <a:srgbClr val="00FF00"/>
                          </a:highlight>
                        </a:rPr>
                        <a:t>111</a:t>
                      </a:r>
                      <a:r>
                        <a:rPr lang="en-US" sz="2800" dirty="0"/>
                        <a:t> &amp;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25141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1111 1010 &gt;&gt;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0000 00</a:t>
                      </a:r>
                      <a:r>
                        <a:rPr lang="en-US" sz="2800" dirty="0">
                          <a:highlight>
                            <a:srgbClr val="00FF00"/>
                          </a:highlight>
                        </a:rPr>
                        <a:t>11</a:t>
                      </a:r>
                      <a:r>
                        <a:rPr lang="en-US" sz="2800" dirty="0"/>
                        <a:t> &amp;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1365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1111 1010 &gt;&gt; 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0000 000</a:t>
                      </a:r>
                      <a:r>
                        <a:rPr lang="en-US" sz="2800" dirty="0">
                          <a:highlight>
                            <a:srgbClr val="00FF00"/>
                          </a:highlight>
                        </a:rPr>
                        <a:t>1</a:t>
                      </a:r>
                      <a:r>
                        <a:rPr lang="en-US" sz="2800" dirty="0"/>
                        <a:t> &amp;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5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846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29A43C-9E92-0D13-469E-B81BABAE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5D219-F676-34BE-B98E-6705ABEC8CE3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Bit-Plane Slicing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B47E22-5F6F-BBDB-FF8E-92DA10039CF2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3CB4E293-7600-7332-018E-843D81C75C72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1479587"/>
          <a:ext cx="12344400" cy="6327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53953302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1878371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3918485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431205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16691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0698229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18375963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351941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Fig: Bit plane 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Fig: Bit plane 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Fig: Bit plane 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Fig: Bit plane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3824068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118335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Fig: Bit plane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Fig: Bit plane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Fig: Bit plane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Fig: Bit plane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814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676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1B9B-0B87-56BD-E393-9211C9E5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C256C1-A911-221F-A145-F451500DC6FA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Thresholding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98D07F-560C-8662-D29E-9089597BCFBB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9C745B-15D1-049E-9072-BCE83FF6FB34}"/>
                  </a:ext>
                </a:extLst>
              </p:cNvPr>
              <p:cNvSpPr txBox="1"/>
              <p:nvPr/>
            </p:nvSpPr>
            <p:spPr>
              <a:xfrm>
                <a:off x="924820" y="2480213"/>
                <a:ext cx="6847580" cy="4652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Input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Output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r>
                  <a:rPr lang="en-US" sz="3600" dirty="0"/>
                  <a:t>Threshold,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begChr m:val="["/>
                        <m:endChr m:val="]"/>
                        <m:ctrlPr>
                          <a:rPr lang="en-US" sz="3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Transformation function,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3600" dirty="0"/>
              </a:p>
              <a:p>
                <a:endParaRPr 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255,  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endParaRPr lang="en-US" sz="3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09C745B-15D1-049E-9072-BCE83FF6F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820" y="2480213"/>
                <a:ext cx="6847580" cy="4652107"/>
              </a:xfrm>
              <a:prstGeom prst="rect">
                <a:avLst/>
              </a:prstGeom>
              <a:blipFill>
                <a:blip r:embed="rId2"/>
                <a:stretch>
                  <a:fillRect l="-2760" t="-2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2E60760-89FB-41E8-B010-19DFB3029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371600"/>
            <a:ext cx="6489205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00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76CBC-7938-E56A-15BE-62EF655B8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F605EF-4F3C-5A0D-E634-F9877506971A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Thresholding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310F13-96DA-8C58-CB68-75A6456FB57C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259E46-F9AB-3189-8C69-2DC890619066}"/>
                  </a:ext>
                </a:extLst>
              </p:cNvPr>
              <p:cNvSpPr txBox="1"/>
              <p:nvPr/>
            </p:nvSpPr>
            <p:spPr>
              <a:xfrm>
                <a:off x="457200" y="1248613"/>
                <a:ext cx="6847580" cy="4652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Input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Output Intensity,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r>
                  <a:rPr lang="en-US" sz="3600" dirty="0"/>
                  <a:t>Threshold,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begChr m:val="["/>
                        <m:endChr m:val="]"/>
                        <m:ctrlPr>
                          <a:rPr lang="en-US" sz="3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>
                            <a:latin typeface="Cambria Math" panose="02040503050406030204" pitchFamily="18" charset="0"/>
                          </a:rPr>
                          <m:t>0,…,255</m:t>
                        </m:r>
                      </m:e>
                    </m:d>
                  </m:oMath>
                </a14:m>
                <a:endParaRPr lang="en-US" sz="3600" dirty="0"/>
              </a:p>
              <a:p>
                <a:r>
                  <a:rPr lang="en-US" sz="3600" dirty="0"/>
                  <a:t>Transformation function,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3600" dirty="0"/>
              </a:p>
              <a:p>
                <a:endParaRPr lang="en-US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255,  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endParaRPr lang="en-US" sz="3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259E46-F9AB-3189-8C69-2DC890619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48613"/>
                <a:ext cx="6847580" cy="4652107"/>
              </a:xfrm>
              <a:prstGeom prst="rect">
                <a:avLst/>
              </a:prstGeom>
              <a:blipFill>
                <a:blip r:embed="rId3"/>
                <a:stretch>
                  <a:fillRect l="-2671" t="-2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9FDA9BC-740D-DF2D-0D9E-E37DA0E368EF}"/>
              </a:ext>
            </a:extLst>
          </p:cNvPr>
          <p:cNvSpPr txBox="1"/>
          <p:nvPr/>
        </p:nvSpPr>
        <p:spPr>
          <a:xfrm>
            <a:off x="7304780" y="4713224"/>
            <a:ext cx="6847580" cy="26776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(height):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(width):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(image[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   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threshold_image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endParaRPr lang="en-US" sz="2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   </a:t>
            </a:r>
            <a:r>
              <a:rPr lang="en-US" sz="28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threshold_image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2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499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D8E9-3ECE-E008-D2D9-98E50F28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96F04C-0241-F9B9-D08F-C09C4FFAD610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Thresholding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3F9D16-523E-4E6C-C7E5-1BD4CE9DB235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7803698-088A-FB2E-BAA6-DE4AC90AE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2011680"/>
            <a:ext cx="4572000" cy="4572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C69F47-57DA-187C-817A-8776FA897F7A}"/>
              </a:ext>
            </a:extLst>
          </p:cNvPr>
          <p:cNvSpPr txBox="1"/>
          <p:nvPr/>
        </p:nvSpPr>
        <p:spPr>
          <a:xfrm>
            <a:off x="1287635" y="6581503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Original Image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7BC4AE-B153-AFEA-940B-0C189FDCEB0A}"/>
                  </a:ext>
                </a:extLst>
              </p:cNvPr>
              <p:cNvSpPr txBox="1"/>
              <p:nvPr/>
            </p:nvSpPr>
            <p:spPr>
              <a:xfrm>
                <a:off x="5251590" y="6566262"/>
                <a:ext cx="41272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Fig: Transformed Image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≥150 : 255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7BC4AE-B153-AFEA-940B-0C189FDCE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590" y="6566262"/>
                <a:ext cx="4127220" cy="369332"/>
              </a:xfrm>
              <a:prstGeom prst="rect">
                <a:avLst/>
              </a:prstGeom>
              <a:blipFill>
                <a:blip r:embed="rId3"/>
                <a:stretch>
                  <a:fillRect l="-1180" t="-8197" r="-29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23E365-82BC-526E-3238-E39BA13E384D}"/>
                  </a:ext>
                </a:extLst>
              </p:cNvPr>
              <p:cNvSpPr txBox="1"/>
              <p:nvPr/>
            </p:nvSpPr>
            <p:spPr>
              <a:xfrm>
                <a:off x="10253201" y="6581503"/>
                <a:ext cx="4160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Fig: Transformed Image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&lt; 150 : 255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23E365-82BC-526E-3238-E39BA13E3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201" y="6581503"/>
                <a:ext cx="4160626" cy="369332"/>
              </a:xfrm>
              <a:prstGeom prst="rect">
                <a:avLst/>
              </a:prstGeom>
              <a:blipFill>
                <a:blip r:embed="rId4"/>
                <a:stretch>
                  <a:fillRect l="-1320" t="-10000" r="-44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DEADD729-E75F-63D6-F2D2-EDDDB97466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514" y="2009502"/>
            <a:ext cx="4572000" cy="4572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6B69CB-B078-FE54-C7D3-61066DDB27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99426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56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8239D2-7F88-A7C2-6492-A35CD05A94C1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C4C190-CF71-8CA5-E1EE-95E1E1940DCF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87E27D-DA67-EF5C-8534-E9B07FBCD702}"/>
              </a:ext>
            </a:extLst>
          </p:cNvPr>
          <p:cNvGraphicFramePr>
            <a:graphicFrameLocks noGrp="1"/>
          </p:cNvGraphicFramePr>
          <p:nvPr/>
        </p:nvGraphicFramePr>
        <p:xfrm>
          <a:off x="1621971" y="3406166"/>
          <a:ext cx="3657600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444231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937012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720547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129483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598242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0287118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4290192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249303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9981085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5352824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47607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86616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83026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53206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13723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57881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72869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877304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3339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7319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17C5D1-3489-8C87-A277-20A4367CB4A3}"/>
              </a:ext>
            </a:extLst>
          </p:cNvPr>
          <p:cNvGraphicFramePr>
            <a:graphicFrameLocks noGrp="1"/>
          </p:cNvGraphicFramePr>
          <p:nvPr/>
        </p:nvGraphicFramePr>
        <p:xfrm>
          <a:off x="9546771" y="3406166"/>
          <a:ext cx="3657600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64442313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39370128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720547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1294838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6598242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80287118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54290192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72493034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79981085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5352824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4760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8661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8302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5320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1372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5788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7286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87730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333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73190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6FA53C0-C6F9-F25E-3F90-B558ED1DEE19}"/>
              </a:ext>
            </a:extLst>
          </p:cNvPr>
          <p:cNvSpPr/>
          <p:nvPr/>
        </p:nvSpPr>
        <p:spPr>
          <a:xfrm>
            <a:off x="3820886" y="5242850"/>
            <a:ext cx="7206343" cy="52784"/>
          </a:xfrm>
          <a:custGeom>
            <a:avLst/>
            <a:gdLst>
              <a:gd name="csX0" fmla="*/ 0 w 7456714"/>
              <a:gd name="csY0" fmla="*/ 1839688 h 1850574"/>
              <a:gd name="csX1" fmla="*/ 3907971 w 7456714"/>
              <a:gd name="csY1" fmla="*/ 2 h 1850574"/>
              <a:gd name="csX2" fmla="*/ 7456714 w 7456714"/>
              <a:gd name="csY2" fmla="*/ 1850574 h 1850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56714" h="1850574">
                <a:moveTo>
                  <a:pt x="0" y="1839688"/>
                </a:moveTo>
                <a:cubicBezTo>
                  <a:pt x="1332592" y="918938"/>
                  <a:pt x="2665185" y="-1812"/>
                  <a:pt x="3907971" y="2"/>
                </a:cubicBezTo>
                <a:cubicBezTo>
                  <a:pt x="5150757" y="1816"/>
                  <a:pt x="6894285" y="1596574"/>
                  <a:pt x="7456714" y="1850574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051818-25C4-C6F0-67AB-64EED3BA0A08}"/>
              </a:ext>
            </a:extLst>
          </p:cNvPr>
          <p:cNvSpPr txBox="1"/>
          <p:nvPr/>
        </p:nvSpPr>
        <p:spPr>
          <a:xfrm>
            <a:off x="7075714" y="4807577"/>
            <a:ext cx="914400" cy="92333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A6BD1A-69B4-AD02-4345-B6AE9F52C161}"/>
              </a:ext>
            </a:extLst>
          </p:cNvPr>
          <p:cNvSpPr txBox="1"/>
          <p:nvPr/>
        </p:nvSpPr>
        <p:spPr>
          <a:xfrm>
            <a:off x="2506384" y="7612407"/>
            <a:ext cx="1736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Input Image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4A64A5-1BEF-2A29-C82F-75CEA38A59FA}"/>
              </a:ext>
            </a:extLst>
          </p:cNvPr>
          <p:cNvSpPr txBox="1"/>
          <p:nvPr/>
        </p:nvSpPr>
        <p:spPr>
          <a:xfrm>
            <a:off x="10548257" y="7612407"/>
            <a:ext cx="189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Output Image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3378E6-C949-C07E-D769-7A9C24FDFC7A}"/>
              </a:ext>
            </a:extLst>
          </p:cNvPr>
          <p:cNvSpPr txBox="1"/>
          <p:nvPr/>
        </p:nvSpPr>
        <p:spPr>
          <a:xfrm>
            <a:off x="174171" y="1232426"/>
            <a:ext cx="14173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Neighborhood-based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Each output pixel depends on the intensity of the corresponding input pixel and its neighboring pixels</a:t>
            </a:r>
          </a:p>
        </p:txBody>
      </p:sp>
    </p:spTree>
    <p:extLst>
      <p:ext uri="{BB962C8B-B14F-4D97-AF65-F5344CB8AC3E}">
        <p14:creationId xmlns:p14="http://schemas.microsoft.com/office/powerpoint/2010/main" val="428352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9FCD5-3C0D-AEDE-1956-805047C46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F7F53F-1EF2-3AE6-F9E0-C8D777DBD268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DB9BD2-4238-BF49-A00D-0FD23A7C1A73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7E398C-EB5E-588C-E00E-2D0BE6DD06C0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371600"/>
          <a:ext cx="2286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ADAA368-A904-080E-2EE4-4DDB982FAE33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828800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D929CE3-8616-C585-37AB-791AABF99631}"/>
              </a:ext>
            </a:extLst>
          </p:cNvPr>
          <p:cNvSpPr txBox="1"/>
          <p:nvPr/>
        </p:nvSpPr>
        <p:spPr>
          <a:xfrm>
            <a:off x="2514600" y="3769667"/>
            <a:ext cx="13716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Input, 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2FA35F-A133-5364-4020-6070385E0E39}"/>
              </a:ext>
            </a:extLst>
          </p:cNvPr>
          <p:cNvSpPr txBox="1"/>
          <p:nvPr/>
        </p:nvSpPr>
        <p:spPr>
          <a:xfrm>
            <a:off x="10744200" y="3769666"/>
            <a:ext cx="1371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48AE89-5F7D-DC30-F6E6-86F3C8AAF47B}"/>
              </a:ext>
            </a:extLst>
          </p:cNvPr>
          <p:cNvSpPr txBox="1"/>
          <p:nvPr/>
        </p:nvSpPr>
        <p:spPr>
          <a:xfrm>
            <a:off x="6629400" y="3769665"/>
            <a:ext cx="1371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kernel, w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C9137B4-B1BA-AD93-F881-FF95B2B4D23D}"/>
              </a:ext>
            </a:extLst>
          </p:cNvPr>
          <p:cNvGraphicFramePr>
            <a:graphicFrameLocks noGrp="1"/>
          </p:cNvGraphicFramePr>
          <p:nvPr/>
        </p:nvGraphicFramePr>
        <p:xfrm>
          <a:off x="9881248" y="1371600"/>
          <a:ext cx="3200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697B9C-3883-47FB-3F64-6F60080048A6}"/>
                  </a:ext>
                </a:extLst>
              </p:cNvPr>
              <p:cNvSpPr txBox="1"/>
              <p:nvPr/>
            </p:nvSpPr>
            <p:spPr>
              <a:xfrm>
                <a:off x="2609069" y="4572001"/>
                <a:ext cx="9651745" cy="16612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⋆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d>
                        <m:d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60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697B9C-3883-47FB-3F64-6F6008004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069" y="4572001"/>
                <a:ext cx="9651745" cy="16612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3B248E-AB00-C39F-5CE6-B0FA9C5FA4DF}"/>
                  </a:ext>
                </a:extLst>
              </p:cNvPr>
              <p:cNvSpPr txBox="1"/>
              <p:nvPr/>
            </p:nvSpPr>
            <p:spPr>
              <a:xfrm>
                <a:off x="348341" y="6505721"/>
                <a:ext cx="141732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kernel height,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endParaRPr lang="en-US" sz="3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600" b="0" i="0" dirty="0">
                    <a:latin typeface="Cambria Math" panose="02040503050406030204" pitchFamily="18" charset="0"/>
                  </a:rPr>
                  <a:t>k</a:t>
                </a:r>
                <a:r>
                  <a:rPr lang="en-US" sz="3600" dirty="0"/>
                  <a:t>ernel width,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i="1" dirty="0">
                        <a:latin typeface="Cambria Math" panose="02040503050406030204" pitchFamily="18" charset="0"/>
                      </a:rPr>
                      <m:t> 1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3B248E-AB00-C39F-5CE6-B0FA9C5FA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41" y="6505721"/>
                <a:ext cx="14173200" cy="1200329"/>
              </a:xfrm>
              <a:prstGeom prst="rect">
                <a:avLst/>
              </a:prstGeom>
              <a:blipFill>
                <a:blip r:embed="rId4"/>
                <a:stretch>
                  <a:fillRect l="-1161" t="-7614" b="-18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809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F11F-E474-6081-E55F-50A2C5FF3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135860-1018-119C-8EDF-E11D80838D58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99410E-01A0-95F7-10F8-E16EB89335CC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B6229A-9F22-AF73-B24B-E7D6C9254520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371600"/>
          <a:ext cx="2286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95DFC50-A873-7F1C-EEB0-8AC5A3E4A9F5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4717553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A9F3125-36AC-4CD6-4671-42DF45A04AD9}"/>
              </a:ext>
            </a:extLst>
          </p:cNvPr>
          <p:cNvSpPr txBox="1"/>
          <p:nvPr/>
        </p:nvSpPr>
        <p:spPr>
          <a:xfrm>
            <a:off x="2514600" y="3769667"/>
            <a:ext cx="13716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Input, 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9A0921-72D3-5A66-86F1-DBF3154DBB26}"/>
              </a:ext>
            </a:extLst>
          </p:cNvPr>
          <p:cNvSpPr txBox="1"/>
          <p:nvPr/>
        </p:nvSpPr>
        <p:spPr>
          <a:xfrm>
            <a:off x="10744200" y="3769666"/>
            <a:ext cx="1371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8B18D4-35AE-98DC-5ABA-D01DB1B9C2B6}"/>
              </a:ext>
            </a:extLst>
          </p:cNvPr>
          <p:cNvSpPr txBox="1"/>
          <p:nvPr/>
        </p:nvSpPr>
        <p:spPr>
          <a:xfrm>
            <a:off x="2514600" y="6658418"/>
            <a:ext cx="1371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kernel, w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D2D8443-95A2-9C6F-22EC-5730ACAB9FFF}"/>
              </a:ext>
            </a:extLst>
          </p:cNvPr>
          <p:cNvGraphicFramePr>
            <a:graphicFrameLocks noGrp="1"/>
          </p:cNvGraphicFramePr>
          <p:nvPr/>
        </p:nvGraphicFramePr>
        <p:xfrm>
          <a:off x="9881248" y="1371600"/>
          <a:ext cx="3200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8C079D-2EDA-43F3-60A1-AF5CE1B017FE}"/>
              </a:ext>
            </a:extLst>
          </p:cNvPr>
          <p:cNvGraphicFramePr>
            <a:graphicFrameLocks noGrp="1"/>
          </p:cNvGraphicFramePr>
          <p:nvPr/>
        </p:nvGraphicFramePr>
        <p:xfrm>
          <a:off x="5970295" y="4717553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134D06-93BB-F0CC-ACB3-8D618F876FFD}"/>
                  </a:ext>
                </a:extLst>
              </p:cNvPr>
              <p:cNvSpPr txBox="1"/>
              <p:nvPr/>
            </p:nvSpPr>
            <p:spPr>
              <a:xfrm>
                <a:off x="5665495" y="6371711"/>
                <a:ext cx="1981200" cy="8309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Rotated kernel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134D06-93BB-F0CC-ACB3-8D618F876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495" y="6371711"/>
                <a:ext cx="1981200" cy="830997"/>
              </a:xfrm>
              <a:prstGeom prst="rect">
                <a:avLst/>
              </a:prstGeom>
              <a:blipFill>
                <a:blip r:embed="rId3"/>
                <a:stretch>
                  <a:fillRect l="-4000" t="-5839" r="-8615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5CA5754-C0B8-8AD9-5526-F2E118E60745}"/>
              </a:ext>
            </a:extLst>
          </p:cNvPr>
          <p:cNvSpPr txBox="1"/>
          <p:nvPr/>
        </p:nvSpPr>
        <p:spPr>
          <a:xfrm>
            <a:off x="7772400" y="6710355"/>
            <a:ext cx="7315200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rotate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ROTATE_180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9561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0513A-4DCB-6DFD-77D7-7E5BBFBCB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3E10CC-D4AC-D2DC-0B11-268F1673B6AD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(1, 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184994-0079-0E98-ED0A-275053E13FC2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184A34-39A3-A84C-450B-D40FB673E0F7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371600"/>
          <a:ext cx="2286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6D3CED-40EE-24AF-4858-C7C5CDDC7293}"/>
              </a:ext>
            </a:extLst>
          </p:cNvPr>
          <p:cNvGraphicFramePr>
            <a:graphicFrameLocks noGrp="1"/>
          </p:cNvGraphicFramePr>
          <p:nvPr/>
        </p:nvGraphicFramePr>
        <p:xfrm>
          <a:off x="9881248" y="1371600"/>
          <a:ext cx="3200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F22040-835C-0161-4213-5FA8CA06B6A5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828800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9DF2BE-D4D1-7799-7272-A980157BD929}"/>
              </a:ext>
            </a:extLst>
          </p:cNvPr>
          <p:cNvGraphicFramePr>
            <a:graphicFrameLocks noGrp="1"/>
          </p:cNvGraphicFramePr>
          <p:nvPr/>
        </p:nvGraphicFramePr>
        <p:xfrm>
          <a:off x="1120140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A1D1DAF-250D-69C3-B151-9C42DB763DFF}"/>
              </a:ext>
            </a:extLst>
          </p:cNvPr>
          <p:cNvGraphicFramePr>
            <a:graphicFrameLocks noGrp="1"/>
          </p:cNvGraphicFramePr>
          <p:nvPr/>
        </p:nvGraphicFramePr>
        <p:xfrm>
          <a:off x="3131968" y="4570958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BEEE704-1388-F433-5572-7BE71CF6E9EA}"/>
              </a:ext>
            </a:extLst>
          </p:cNvPr>
          <p:cNvGraphicFramePr>
            <a:graphicFrameLocks noGrp="1"/>
          </p:cNvGraphicFramePr>
          <p:nvPr/>
        </p:nvGraphicFramePr>
        <p:xfrm>
          <a:off x="546359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FD83FAB-4CC4-C688-5881-AA903DE67D60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628768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02C0063-07D0-46C6-7F92-0A6E46572F8A}"/>
              </a:ext>
            </a:extLst>
          </p:cNvPr>
          <p:cNvGraphicFramePr>
            <a:graphicFrameLocks noGrp="1"/>
          </p:cNvGraphicFramePr>
          <p:nvPr/>
        </p:nvGraphicFramePr>
        <p:xfrm>
          <a:off x="7795211" y="6731148"/>
          <a:ext cx="64008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96420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9442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E5371D9-E923-C3F3-4045-E3B233F98116}"/>
              </a:ext>
            </a:extLst>
          </p:cNvPr>
          <p:cNvSpPr txBox="1"/>
          <p:nvPr/>
        </p:nvSpPr>
        <p:spPr>
          <a:xfrm>
            <a:off x="2514600" y="3769667"/>
            <a:ext cx="13716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86B0B1-3E71-88E2-6E23-3F68FFE0939D}"/>
              </a:ext>
            </a:extLst>
          </p:cNvPr>
          <p:cNvSpPr txBox="1"/>
          <p:nvPr/>
        </p:nvSpPr>
        <p:spPr>
          <a:xfrm>
            <a:off x="10744200" y="3769666"/>
            <a:ext cx="1371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FD4E49-C558-50AC-888D-8957CCA103C7}"/>
              </a:ext>
            </a:extLst>
          </p:cNvPr>
          <p:cNvSpPr txBox="1"/>
          <p:nvPr/>
        </p:nvSpPr>
        <p:spPr>
          <a:xfrm>
            <a:off x="6629400" y="3769665"/>
            <a:ext cx="1371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kernel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08164-8281-13C6-2759-42435EF9C539}"/>
              </a:ext>
            </a:extLst>
          </p:cNvPr>
          <p:cNvSpPr txBox="1"/>
          <p:nvPr/>
        </p:nvSpPr>
        <p:spPr>
          <a:xfrm>
            <a:off x="4297779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C77455-6F8A-9297-5D15-0090F733BD3A}"/>
              </a:ext>
            </a:extLst>
          </p:cNvPr>
          <p:cNvSpPr txBox="1"/>
          <p:nvPr/>
        </p:nvSpPr>
        <p:spPr>
          <a:xfrm>
            <a:off x="6629400" y="6742654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68F443-FB76-4A14-84B4-BC5A48281659}"/>
                  </a:ext>
                </a:extLst>
              </p:cNvPr>
              <p:cNvSpPr txBox="1"/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AAC8563-45D3-8142-4CFF-3C76361EB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blipFill>
                <a:blip r:embed="rId3"/>
                <a:stretch>
                  <a:fillRect l="-21622" b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41259BE-94ED-6D06-8B5D-9459F41EB5F5}"/>
              </a:ext>
            </a:extLst>
          </p:cNvPr>
          <p:cNvSpPr txBox="1"/>
          <p:nvPr/>
        </p:nvSpPr>
        <p:spPr>
          <a:xfrm>
            <a:off x="6560968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A9A0720-4CBB-C8A5-4E62-B0789CB20E97}"/>
              </a:ext>
            </a:extLst>
          </p:cNvPr>
          <p:cNvGraphicFramePr>
            <a:graphicFrameLocks noGrp="1"/>
          </p:cNvGraphicFramePr>
          <p:nvPr/>
        </p:nvGraphicFramePr>
        <p:xfrm>
          <a:off x="7646695" y="4570956"/>
          <a:ext cx="27432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1x1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AD7A8036-06DC-D30B-5862-AFD772709553}"/>
              </a:ext>
            </a:extLst>
          </p:cNvPr>
          <p:cNvSpPr txBox="1"/>
          <p:nvPr/>
        </p:nvSpPr>
        <p:spPr>
          <a:xfrm>
            <a:off x="10109848" y="5025923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268470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BEF9E-7CCC-570E-F029-403121B1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6A4256-EEBF-3D5F-AADE-C6468EACC2F5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(1, 2)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4CFA6A-AA61-5134-795F-628CE53B1E83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FBD841E-36F3-4C06-5C68-23305D16796F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371600"/>
          <a:ext cx="2286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4D7E9E-A577-C069-8ED9-FD0CB7B3BC15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828800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A3EF80-15D8-450F-303D-9B1823F4C79D}"/>
              </a:ext>
            </a:extLst>
          </p:cNvPr>
          <p:cNvGraphicFramePr>
            <a:graphicFrameLocks noGrp="1"/>
          </p:cNvGraphicFramePr>
          <p:nvPr/>
        </p:nvGraphicFramePr>
        <p:xfrm>
          <a:off x="1120140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1C9A648-2B09-5739-AE92-E96917416FF2}"/>
              </a:ext>
            </a:extLst>
          </p:cNvPr>
          <p:cNvGraphicFramePr>
            <a:graphicFrameLocks noGrp="1"/>
          </p:cNvGraphicFramePr>
          <p:nvPr/>
        </p:nvGraphicFramePr>
        <p:xfrm>
          <a:off x="3131968" y="4570958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5EFB584-D7AB-8394-06DE-2E143B63AC5D}"/>
              </a:ext>
            </a:extLst>
          </p:cNvPr>
          <p:cNvGraphicFramePr>
            <a:graphicFrameLocks noGrp="1"/>
          </p:cNvGraphicFramePr>
          <p:nvPr/>
        </p:nvGraphicFramePr>
        <p:xfrm>
          <a:off x="546359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CD9FC38-CC18-3F0A-D87B-2BC268E35145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628768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D31328E-74CB-BBC1-A78F-46E9B417DF16}"/>
              </a:ext>
            </a:extLst>
          </p:cNvPr>
          <p:cNvGraphicFramePr>
            <a:graphicFrameLocks noGrp="1"/>
          </p:cNvGraphicFramePr>
          <p:nvPr/>
        </p:nvGraphicFramePr>
        <p:xfrm>
          <a:off x="7795210" y="6731148"/>
          <a:ext cx="64008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96420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9442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46BA1B5-23C7-E8F4-81F3-F597E443EE72}"/>
              </a:ext>
            </a:extLst>
          </p:cNvPr>
          <p:cNvSpPr txBox="1"/>
          <p:nvPr/>
        </p:nvSpPr>
        <p:spPr>
          <a:xfrm>
            <a:off x="2514600" y="3769667"/>
            <a:ext cx="13716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D5F314-5B09-B595-AE28-773DF2734418}"/>
              </a:ext>
            </a:extLst>
          </p:cNvPr>
          <p:cNvSpPr txBox="1"/>
          <p:nvPr/>
        </p:nvSpPr>
        <p:spPr>
          <a:xfrm>
            <a:off x="10744200" y="3769666"/>
            <a:ext cx="1371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6E0035-5EF2-5CB6-DBF5-341AD2D85B5A}"/>
              </a:ext>
            </a:extLst>
          </p:cNvPr>
          <p:cNvSpPr txBox="1"/>
          <p:nvPr/>
        </p:nvSpPr>
        <p:spPr>
          <a:xfrm>
            <a:off x="6629400" y="3769665"/>
            <a:ext cx="1371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kernel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00898A-F761-0BA2-4384-56C6B8F287A2}"/>
              </a:ext>
            </a:extLst>
          </p:cNvPr>
          <p:cNvSpPr txBox="1"/>
          <p:nvPr/>
        </p:nvSpPr>
        <p:spPr>
          <a:xfrm>
            <a:off x="4297779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E3447D-2D61-96D7-F39F-B36D832A2A97}"/>
              </a:ext>
            </a:extLst>
          </p:cNvPr>
          <p:cNvSpPr txBox="1"/>
          <p:nvPr/>
        </p:nvSpPr>
        <p:spPr>
          <a:xfrm>
            <a:off x="6629400" y="6742654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2ED77D-6D14-8ABC-0D51-F5FB64BBD2DD}"/>
                  </a:ext>
                </a:extLst>
              </p:cNvPr>
              <p:cNvSpPr txBox="1"/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2ED77D-6D14-8ABC-0D51-F5FB64BBD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blipFill>
                <a:blip r:embed="rId3"/>
                <a:stretch>
                  <a:fillRect l="-21622" b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B1B608A-A2C8-61D4-D9CC-C624FACAF2C3}"/>
              </a:ext>
            </a:extLst>
          </p:cNvPr>
          <p:cNvSpPr txBox="1"/>
          <p:nvPr/>
        </p:nvSpPr>
        <p:spPr>
          <a:xfrm>
            <a:off x="6560968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F9A5F6A-787A-F77E-5C3F-785E00DD834A}"/>
              </a:ext>
            </a:extLst>
          </p:cNvPr>
          <p:cNvGraphicFramePr>
            <a:graphicFrameLocks noGrp="1"/>
          </p:cNvGraphicFramePr>
          <p:nvPr/>
        </p:nvGraphicFramePr>
        <p:xfrm>
          <a:off x="7646695" y="4570956"/>
          <a:ext cx="27432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2x1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0A3102B0-7A1D-08A6-DD2E-FC02CA1B1ED7}"/>
              </a:ext>
            </a:extLst>
          </p:cNvPr>
          <p:cNvSpPr txBox="1"/>
          <p:nvPr/>
        </p:nvSpPr>
        <p:spPr>
          <a:xfrm>
            <a:off x="10109848" y="5025923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17B62DE-B298-2C9E-A7CB-E3D8C6959AFC}"/>
              </a:ext>
            </a:extLst>
          </p:cNvPr>
          <p:cNvGraphicFramePr>
            <a:graphicFrameLocks noGrp="1"/>
          </p:cNvGraphicFramePr>
          <p:nvPr/>
        </p:nvGraphicFramePr>
        <p:xfrm>
          <a:off x="9881248" y="1371600"/>
          <a:ext cx="3200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689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B9CBC-1394-E45D-204A-E260E8082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6FDBCC-EA5D-839B-2BAA-5E706DCB96B1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(1, 3)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44B207-407A-0493-98E3-9897BBF0EE59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9DB2DFD-C695-C122-7334-17C9D05C799A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371600"/>
          <a:ext cx="2286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812CE9-25C8-BD58-2720-D8038B227495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828800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E158D3-405E-7B89-BF84-33E37A073448}"/>
              </a:ext>
            </a:extLst>
          </p:cNvPr>
          <p:cNvGraphicFramePr>
            <a:graphicFrameLocks noGrp="1"/>
          </p:cNvGraphicFramePr>
          <p:nvPr/>
        </p:nvGraphicFramePr>
        <p:xfrm>
          <a:off x="1120140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CEDF774-28AF-C534-100C-1FFAF4F8D226}"/>
              </a:ext>
            </a:extLst>
          </p:cNvPr>
          <p:cNvGraphicFramePr>
            <a:graphicFrameLocks noGrp="1"/>
          </p:cNvGraphicFramePr>
          <p:nvPr/>
        </p:nvGraphicFramePr>
        <p:xfrm>
          <a:off x="3131968" y="4570958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A15FE5B-7DD3-6003-6587-435B9F5C5A0A}"/>
              </a:ext>
            </a:extLst>
          </p:cNvPr>
          <p:cNvGraphicFramePr>
            <a:graphicFrameLocks noGrp="1"/>
          </p:cNvGraphicFramePr>
          <p:nvPr/>
        </p:nvGraphicFramePr>
        <p:xfrm>
          <a:off x="546359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A859FE7-0A94-2E0B-731C-150CFBD52227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628768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0637DC3-75AC-8E8B-1038-2441C09D249E}"/>
              </a:ext>
            </a:extLst>
          </p:cNvPr>
          <p:cNvGraphicFramePr>
            <a:graphicFrameLocks noGrp="1"/>
          </p:cNvGraphicFramePr>
          <p:nvPr/>
        </p:nvGraphicFramePr>
        <p:xfrm>
          <a:off x="7795211" y="6731148"/>
          <a:ext cx="64008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96420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9442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D7E9980-572F-94D6-3750-E18DFAF5DF7D}"/>
              </a:ext>
            </a:extLst>
          </p:cNvPr>
          <p:cNvSpPr txBox="1"/>
          <p:nvPr/>
        </p:nvSpPr>
        <p:spPr>
          <a:xfrm>
            <a:off x="2514600" y="3769667"/>
            <a:ext cx="13716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1D89C8-6D64-E9BC-64B0-130BFE485697}"/>
              </a:ext>
            </a:extLst>
          </p:cNvPr>
          <p:cNvSpPr txBox="1"/>
          <p:nvPr/>
        </p:nvSpPr>
        <p:spPr>
          <a:xfrm>
            <a:off x="10744200" y="3769666"/>
            <a:ext cx="1371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E59FA8-D36B-28A7-5599-8141137BCD57}"/>
              </a:ext>
            </a:extLst>
          </p:cNvPr>
          <p:cNvSpPr txBox="1"/>
          <p:nvPr/>
        </p:nvSpPr>
        <p:spPr>
          <a:xfrm>
            <a:off x="6629400" y="3769665"/>
            <a:ext cx="1371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kernel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3E593-5A43-5CE7-DB81-DF2D5DF76073}"/>
              </a:ext>
            </a:extLst>
          </p:cNvPr>
          <p:cNvSpPr txBox="1"/>
          <p:nvPr/>
        </p:nvSpPr>
        <p:spPr>
          <a:xfrm>
            <a:off x="4297779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B2DA60-2CF8-7211-FEA4-07713E394909}"/>
              </a:ext>
            </a:extLst>
          </p:cNvPr>
          <p:cNvSpPr txBox="1"/>
          <p:nvPr/>
        </p:nvSpPr>
        <p:spPr>
          <a:xfrm>
            <a:off x="6629400" y="6742654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947399-F4DB-4A5C-FE53-01E7CE576E1C}"/>
                  </a:ext>
                </a:extLst>
              </p:cNvPr>
              <p:cNvSpPr txBox="1"/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947399-F4DB-4A5C-FE53-01E7CE576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blipFill>
                <a:blip r:embed="rId3"/>
                <a:stretch>
                  <a:fillRect l="-21622" b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98ECB07-216D-9780-7378-9DB68D9FDFD4}"/>
              </a:ext>
            </a:extLst>
          </p:cNvPr>
          <p:cNvSpPr txBox="1"/>
          <p:nvPr/>
        </p:nvSpPr>
        <p:spPr>
          <a:xfrm>
            <a:off x="6560968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EBDA1E1-31BE-4882-DBEA-FB8E0E45999D}"/>
              </a:ext>
            </a:extLst>
          </p:cNvPr>
          <p:cNvGraphicFramePr>
            <a:graphicFrameLocks noGrp="1"/>
          </p:cNvGraphicFramePr>
          <p:nvPr/>
        </p:nvGraphicFramePr>
        <p:xfrm>
          <a:off x="7646695" y="4570956"/>
          <a:ext cx="27432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7x5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3BF80BE6-6F59-D7FE-DE54-7B7EED9D7974}"/>
              </a:ext>
            </a:extLst>
          </p:cNvPr>
          <p:cNvSpPr txBox="1"/>
          <p:nvPr/>
        </p:nvSpPr>
        <p:spPr>
          <a:xfrm>
            <a:off x="10109848" y="5025923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C804A24-0F7F-C300-0D57-E009C4D85C77}"/>
              </a:ext>
            </a:extLst>
          </p:cNvPr>
          <p:cNvGraphicFramePr>
            <a:graphicFrameLocks noGrp="1"/>
          </p:cNvGraphicFramePr>
          <p:nvPr/>
        </p:nvGraphicFramePr>
        <p:xfrm>
          <a:off x="9881248" y="1371600"/>
          <a:ext cx="3200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352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5D7EC-6D93-39CF-B305-4183B9B93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583D05-879B-668E-385B-AB0791D0DED6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(2, 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5D5A49-918C-4997-C739-FE720289DAC4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43EB1FB-1D63-09B0-EEE2-885A6343CF12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371600"/>
          <a:ext cx="2286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EAE2089-3266-7737-3BD6-C131DAEC3C2B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828800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35BCD1-DBDA-17FA-DA55-A11782F9487C}"/>
              </a:ext>
            </a:extLst>
          </p:cNvPr>
          <p:cNvGraphicFramePr>
            <a:graphicFrameLocks noGrp="1"/>
          </p:cNvGraphicFramePr>
          <p:nvPr/>
        </p:nvGraphicFramePr>
        <p:xfrm>
          <a:off x="1120140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BACEA73-4979-4152-1BF1-77180D0A8F15}"/>
              </a:ext>
            </a:extLst>
          </p:cNvPr>
          <p:cNvGraphicFramePr>
            <a:graphicFrameLocks noGrp="1"/>
          </p:cNvGraphicFramePr>
          <p:nvPr/>
        </p:nvGraphicFramePr>
        <p:xfrm>
          <a:off x="3131968" y="4570958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E753CD-1F5E-5C74-06FD-C608C545B6CE}"/>
              </a:ext>
            </a:extLst>
          </p:cNvPr>
          <p:cNvGraphicFramePr>
            <a:graphicFrameLocks noGrp="1"/>
          </p:cNvGraphicFramePr>
          <p:nvPr/>
        </p:nvGraphicFramePr>
        <p:xfrm>
          <a:off x="546359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D17725A-52F9-7150-1FAB-8A5AE3AB8BA2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628768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28764C6-D533-6C29-02BF-9635E8009F62}"/>
              </a:ext>
            </a:extLst>
          </p:cNvPr>
          <p:cNvGraphicFramePr>
            <a:graphicFrameLocks noGrp="1"/>
          </p:cNvGraphicFramePr>
          <p:nvPr/>
        </p:nvGraphicFramePr>
        <p:xfrm>
          <a:off x="7795211" y="6731148"/>
          <a:ext cx="64008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96420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9442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AEDFE91-AFE6-4252-7763-04EABAE32ECF}"/>
              </a:ext>
            </a:extLst>
          </p:cNvPr>
          <p:cNvSpPr txBox="1"/>
          <p:nvPr/>
        </p:nvSpPr>
        <p:spPr>
          <a:xfrm>
            <a:off x="2514600" y="3769667"/>
            <a:ext cx="13716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6E1183-EC48-260C-B5D6-CAA46C00C731}"/>
              </a:ext>
            </a:extLst>
          </p:cNvPr>
          <p:cNvSpPr txBox="1"/>
          <p:nvPr/>
        </p:nvSpPr>
        <p:spPr>
          <a:xfrm>
            <a:off x="10744200" y="3769666"/>
            <a:ext cx="1371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BBE0EA-325D-0FA5-685A-6915A7916C97}"/>
              </a:ext>
            </a:extLst>
          </p:cNvPr>
          <p:cNvSpPr txBox="1"/>
          <p:nvPr/>
        </p:nvSpPr>
        <p:spPr>
          <a:xfrm>
            <a:off x="6629400" y="3769665"/>
            <a:ext cx="1371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kernel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03737-C4F6-1934-5240-67C8A38B3E2B}"/>
              </a:ext>
            </a:extLst>
          </p:cNvPr>
          <p:cNvSpPr txBox="1"/>
          <p:nvPr/>
        </p:nvSpPr>
        <p:spPr>
          <a:xfrm>
            <a:off x="4297779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BB2129-CBDE-2344-280C-2421D2EFE71C}"/>
              </a:ext>
            </a:extLst>
          </p:cNvPr>
          <p:cNvSpPr txBox="1"/>
          <p:nvPr/>
        </p:nvSpPr>
        <p:spPr>
          <a:xfrm>
            <a:off x="6629400" y="6742654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734BE4-F777-3464-2A53-BB757CFEF624}"/>
                  </a:ext>
                </a:extLst>
              </p:cNvPr>
              <p:cNvSpPr txBox="1"/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734BE4-F777-3464-2A53-BB757CFEF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blipFill>
                <a:blip r:embed="rId3"/>
                <a:stretch>
                  <a:fillRect l="-21622" b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F11EBD9-A5DC-E5E9-BBCC-ADF3D27A2F7F}"/>
              </a:ext>
            </a:extLst>
          </p:cNvPr>
          <p:cNvSpPr txBox="1"/>
          <p:nvPr/>
        </p:nvSpPr>
        <p:spPr>
          <a:xfrm>
            <a:off x="6560968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63B35B0-34AC-DC1D-9B13-345347E01ED6}"/>
              </a:ext>
            </a:extLst>
          </p:cNvPr>
          <p:cNvGraphicFramePr>
            <a:graphicFrameLocks noGrp="1"/>
          </p:cNvGraphicFramePr>
          <p:nvPr/>
        </p:nvGraphicFramePr>
        <p:xfrm>
          <a:off x="7646695" y="4570956"/>
          <a:ext cx="27432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2x1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A6046BA-1008-B1F8-208F-034737E675B7}"/>
              </a:ext>
            </a:extLst>
          </p:cNvPr>
          <p:cNvSpPr txBox="1"/>
          <p:nvPr/>
        </p:nvSpPr>
        <p:spPr>
          <a:xfrm>
            <a:off x="10109848" y="5025923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FE8E6C5-38F0-F7CF-BBC9-5C193AD3018B}"/>
              </a:ext>
            </a:extLst>
          </p:cNvPr>
          <p:cNvGraphicFramePr>
            <a:graphicFrameLocks noGrp="1"/>
          </p:cNvGraphicFramePr>
          <p:nvPr/>
        </p:nvGraphicFramePr>
        <p:xfrm>
          <a:off x="9881248" y="1371600"/>
          <a:ext cx="3200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198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DFF63-F521-1321-F394-BD3F5872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A5D12A-A0E5-7633-0900-D81A212178F2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(2, 2)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F9C618-7DF6-DCF0-7F86-98F7DE7496A4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59F382-9A2C-9FAE-0357-C75AAFBBDECE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371600"/>
          <a:ext cx="2286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1C73BF-3C3F-FA2E-7B1C-600DACBD5B85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828800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E5FFFD-16AD-4878-84F5-F9068E9EBCA1}"/>
              </a:ext>
            </a:extLst>
          </p:cNvPr>
          <p:cNvGraphicFramePr>
            <a:graphicFrameLocks noGrp="1"/>
          </p:cNvGraphicFramePr>
          <p:nvPr/>
        </p:nvGraphicFramePr>
        <p:xfrm>
          <a:off x="1120140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542198F-473F-AC55-B610-2A610D6D3711}"/>
              </a:ext>
            </a:extLst>
          </p:cNvPr>
          <p:cNvGraphicFramePr>
            <a:graphicFrameLocks noGrp="1"/>
          </p:cNvGraphicFramePr>
          <p:nvPr/>
        </p:nvGraphicFramePr>
        <p:xfrm>
          <a:off x="3131968" y="4570958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7DA6A77-0914-958E-871E-71CECECD9F49}"/>
              </a:ext>
            </a:extLst>
          </p:cNvPr>
          <p:cNvGraphicFramePr>
            <a:graphicFrameLocks noGrp="1"/>
          </p:cNvGraphicFramePr>
          <p:nvPr/>
        </p:nvGraphicFramePr>
        <p:xfrm>
          <a:off x="546359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BA673F9-2E7E-EF8E-2801-F2DD5EF56D9B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628768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59E9D79-7511-E356-8F4B-C93F6D3A3F22}"/>
              </a:ext>
            </a:extLst>
          </p:cNvPr>
          <p:cNvGraphicFramePr>
            <a:graphicFrameLocks noGrp="1"/>
          </p:cNvGraphicFramePr>
          <p:nvPr/>
        </p:nvGraphicFramePr>
        <p:xfrm>
          <a:off x="7795211" y="6731148"/>
          <a:ext cx="64008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96420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9442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C763D63-E6B1-E2E5-D529-EC397FFAA333}"/>
              </a:ext>
            </a:extLst>
          </p:cNvPr>
          <p:cNvSpPr txBox="1"/>
          <p:nvPr/>
        </p:nvSpPr>
        <p:spPr>
          <a:xfrm>
            <a:off x="2514600" y="3769667"/>
            <a:ext cx="13716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170F0F-A596-108F-5C03-74E56F4942F8}"/>
              </a:ext>
            </a:extLst>
          </p:cNvPr>
          <p:cNvSpPr txBox="1"/>
          <p:nvPr/>
        </p:nvSpPr>
        <p:spPr>
          <a:xfrm>
            <a:off x="10744200" y="3769666"/>
            <a:ext cx="1371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6C21D5-368F-F014-38AF-A6F8409940B5}"/>
              </a:ext>
            </a:extLst>
          </p:cNvPr>
          <p:cNvSpPr txBox="1"/>
          <p:nvPr/>
        </p:nvSpPr>
        <p:spPr>
          <a:xfrm>
            <a:off x="6629400" y="3769665"/>
            <a:ext cx="1371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kernel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BDCCA1-687A-2FF2-531B-FA9C3DB4F58E}"/>
              </a:ext>
            </a:extLst>
          </p:cNvPr>
          <p:cNvSpPr txBox="1"/>
          <p:nvPr/>
        </p:nvSpPr>
        <p:spPr>
          <a:xfrm>
            <a:off x="4297779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4E65B-D2BF-2A95-D44C-A2192D547723}"/>
              </a:ext>
            </a:extLst>
          </p:cNvPr>
          <p:cNvSpPr txBox="1"/>
          <p:nvPr/>
        </p:nvSpPr>
        <p:spPr>
          <a:xfrm>
            <a:off x="6629400" y="6742654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0C6072-B9C3-C501-4774-8630107531FB}"/>
                  </a:ext>
                </a:extLst>
              </p:cNvPr>
              <p:cNvSpPr txBox="1"/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00C6072-B9C3-C501-4774-863010753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blipFill>
                <a:blip r:embed="rId3"/>
                <a:stretch>
                  <a:fillRect l="-21622" b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2DBE038-9914-5CDD-2CAF-14CAC023E85C}"/>
              </a:ext>
            </a:extLst>
          </p:cNvPr>
          <p:cNvSpPr txBox="1"/>
          <p:nvPr/>
        </p:nvSpPr>
        <p:spPr>
          <a:xfrm>
            <a:off x="6560968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B9FE485-839E-6F8E-23FD-5249A23E3B8F}"/>
              </a:ext>
            </a:extLst>
          </p:cNvPr>
          <p:cNvGraphicFramePr>
            <a:graphicFrameLocks noGrp="1"/>
          </p:cNvGraphicFramePr>
          <p:nvPr/>
        </p:nvGraphicFramePr>
        <p:xfrm>
          <a:off x="7646695" y="4570956"/>
          <a:ext cx="27432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7x5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BA87E07-66F0-0786-5B20-B27D83C5F5A9}"/>
              </a:ext>
            </a:extLst>
          </p:cNvPr>
          <p:cNvSpPr txBox="1"/>
          <p:nvPr/>
        </p:nvSpPr>
        <p:spPr>
          <a:xfrm>
            <a:off x="10109848" y="5025923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F2E139C-9C68-65E1-4C53-9B70726D9254}"/>
              </a:ext>
            </a:extLst>
          </p:cNvPr>
          <p:cNvGraphicFramePr>
            <a:graphicFrameLocks noGrp="1"/>
          </p:cNvGraphicFramePr>
          <p:nvPr/>
        </p:nvGraphicFramePr>
        <p:xfrm>
          <a:off x="9881248" y="1371600"/>
          <a:ext cx="3200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094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6D7D0-CFE5-3E85-85C8-C0859E1B1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C6638D-681A-EBDE-FACF-AF9F6C48FF5B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(2, 3)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8929E7-4588-5F8C-0576-BAF4EFAEEBB7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642F084-B96D-3245-C0C3-94B0C38E6A0A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371600"/>
          <a:ext cx="2286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4CC687-3B79-7E89-61AA-1E59925E3B34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828800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3E8625-6E31-C6CA-66AF-D3F0A45DE6B0}"/>
              </a:ext>
            </a:extLst>
          </p:cNvPr>
          <p:cNvGraphicFramePr>
            <a:graphicFrameLocks noGrp="1"/>
          </p:cNvGraphicFramePr>
          <p:nvPr/>
        </p:nvGraphicFramePr>
        <p:xfrm>
          <a:off x="1120140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A8F096E-1036-41A0-A641-7C5C30994A2A}"/>
              </a:ext>
            </a:extLst>
          </p:cNvPr>
          <p:cNvGraphicFramePr>
            <a:graphicFrameLocks noGrp="1"/>
          </p:cNvGraphicFramePr>
          <p:nvPr/>
        </p:nvGraphicFramePr>
        <p:xfrm>
          <a:off x="3131968" y="4570958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9266B7C-0452-E2D9-75F7-83A38600D273}"/>
              </a:ext>
            </a:extLst>
          </p:cNvPr>
          <p:cNvGraphicFramePr>
            <a:graphicFrameLocks noGrp="1"/>
          </p:cNvGraphicFramePr>
          <p:nvPr/>
        </p:nvGraphicFramePr>
        <p:xfrm>
          <a:off x="546359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978F470-FF23-E7BC-D997-4C6ED521A1C3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628768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189362D-CB0B-CBCA-77D1-9574F78EA8D0}"/>
              </a:ext>
            </a:extLst>
          </p:cNvPr>
          <p:cNvGraphicFramePr>
            <a:graphicFrameLocks noGrp="1"/>
          </p:cNvGraphicFramePr>
          <p:nvPr/>
        </p:nvGraphicFramePr>
        <p:xfrm>
          <a:off x="7795211" y="6731148"/>
          <a:ext cx="64008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96420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9442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09B63E4-710F-5C3E-CF36-9EDB30654372}"/>
              </a:ext>
            </a:extLst>
          </p:cNvPr>
          <p:cNvSpPr txBox="1"/>
          <p:nvPr/>
        </p:nvSpPr>
        <p:spPr>
          <a:xfrm>
            <a:off x="2514600" y="3769667"/>
            <a:ext cx="13716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164837-05AB-9989-0A8D-5138758F236D}"/>
              </a:ext>
            </a:extLst>
          </p:cNvPr>
          <p:cNvSpPr txBox="1"/>
          <p:nvPr/>
        </p:nvSpPr>
        <p:spPr>
          <a:xfrm>
            <a:off x="10744200" y="3769666"/>
            <a:ext cx="1371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DF34A3-225C-771A-363B-B35CF6D56E3F}"/>
              </a:ext>
            </a:extLst>
          </p:cNvPr>
          <p:cNvSpPr txBox="1"/>
          <p:nvPr/>
        </p:nvSpPr>
        <p:spPr>
          <a:xfrm>
            <a:off x="6629400" y="3769665"/>
            <a:ext cx="1371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kernel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A7ADD-C82E-F663-DED2-CACFC84B6975}"/>
              </a:ext>
            </a:extLst>
          </p:cNvPr>
          <p:cNvSpPr txBox="1"/>
          <p:nvPr/>
        </p:nvSpPr>
        <p:spPr>
          <a:xfrm>
            <a:off x="4297779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C09450-1D70-CDB4-1F5A-1E7DE4C80BAF}"/>
              </a:ext>
            </a:extLst>
          </p:cNvPr>
          <p:cNvSpPr txBox="1"/>
          <p:nvPr/>
        </p:nvSpPr>
        <p:spPr>
          <a:xfrm>
            <a:off x="6629400" y="6742654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03AC67-8530-FD58-8CB6-2B6F5C3EDD52}"/>
                  </a:ext>
                </a:extLst>
              </p:cNvPr>
              <p:cNvSpPr txBox="1"/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03AC67-8530-FD58-8CB6-2B6F5C3ED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blipFill>
                <a:blip r:embed="rId3"/>
                <a:stretch>
                  <a:fillRect l="-21622" b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0F2000B-47A9-A0AE-A3D7-19985451CD61}"/>
              </a:ext>
            </a:extLst>
          </p:cNvPr>
          <p:cNvSpPr txBox="1"/>
          <p:nvPr/>
        </p:nvSpPr>
        <p:spPr>
          <a:xfrm>
            <a:off x="6560968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F123958-C93E-6CF4-AB92-2ADFF85DB1F0}"/>
              </a:ext>
            </a:extLst>
          </p:cNvPr>
          <p:cNvGraphicFramePr>
            <a:graphicFrameLocks noGrp="1"/>
          </p:cNvGraphicFramePr>
          <p:nvPr/>
        </p:nvGraphicFramePr>
        <p:xfrm>
          <a:off x="7646695" y="4570956"/>
          <a:ext cx="27432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8x5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9191D5F-D09B-D570-B64F-A7827A3AB1B4}"/>
              </a:ext>
            </a:extLst>
          </p:cNvPr>
          <p:cNvSpPr txBox="1"/>
          <p:nvPr/>
        </p:nvSpPr>
        <p:spPr>
          <a:xfrm>
            <a:off x="10109848" y="5025923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AAF9CCA-3688-A598-EF9C-780EA34154C2}"/>
              </a:ext>
            </a:extLst>
          </p:cNvPr>
          <p:cNvGraphicFramePr>
            <a:graphicFrameLocks noGrp="1"/>
          </p:cNvGraphicFramePr>
          <p:nvPr/>
        </p:nvGraphicFramePr>
        <p:xfrm>
          <a:off x="9881248" y="1371600"/>
          <a:ext cx="3200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947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0A17D-E210-83DE-CF5F-AE0A4AAE8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15EA78-7E53-4410-F95E-CA06BAB2D56E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(3, 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A722749-34DA-890D-93DE-7A0D228082EB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60EB9F-0295-1192-F289-9DDAEDE4C7D6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371600"/>
          <a:ext cx="2286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421D40-5921-C9F5-5EA5-9B6E4F1476CD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828800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8BA94D-38C5-7DC6-C3BD-E7E4FEA882DF}"/>
              </a:ext>
            </a:extLst>
          </p:cNvPr>
          <p:cNvGraphicFramePr>
            <a:graphicFrameLocks noGrp="1"/>
          </p:cNvGraphicFramePr>
          <p:nvPr/>
        </p:nvGraphicFramePr>
        <p:xfrm>
          <a:off x="1120140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88AC197-72BA-EAC5-D583-5109372118E8}"/>
              </a:ext>
            </a:extLst>
          </p:cNvPr>
          <p:cNvGraphicFramePr>
            <a:graphicFrameLocks noGrp="1"/>
          </p:cNvGraphicFramePr>
          <p:nvPr/>
        </p:nvGraphicFramePr>
        <p:xfrm>
          <a:off x="3131968" y="4570958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FD80065-22F0-5B49-AD20-1E10AD38680F}"/>
              </a:ext>
            </a:extLst>
          </p:cNvPr>
          <p:cNvGraphicFramePr>
            <a:graphicFrameLocks noGrp="1"/>
          </p:cNvGraphicFramePr>
          <p:nvPr/>
        </p:nvGraphicFramePr>
        <p:xfrm>
          <a:off x="546359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A6A6DB7-576C-8834-E00B-C3136A2E31BB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628768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15F1B25-A3B2-F7AB-A26D-16B144428FF0}"/>
              </a:ext>
            </a:extLst>
          </p:cNvPr>
          <p:cNvGraphicFramePr>
            <a:graphicFrameLocks noGrp="1"/>
          </p:cNvGraphicFramePr>
          <p:nvPr/>
        </p:nvGraphicFramePr>
        <p:xfrm>
          <a:off x="7795211" y="6731148"/>
          <a:ext cx="64008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96420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9442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4559712-5F72-D774-FD86-F86F9F401A95}"/>
              </a:ext>
            </a:extLst>
          </p:cNvPr>
          <p:cNvSpPr txBox="1"/>
          <p:nvPr/>
        </p:nvSpPr>
        <p:spPr>
          <a:xfrm>
            <a:off x="2514600" y="3769667"/>
            <a:ext cx="13716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49B493-6E03-138C-60FC-1D82C2B5661A}"/>
              </a:ext>
            </a:extLst>
          </p:cNvPr>
          <p:cNvSpPr txBox="1"/>
          <p:nvPr/>
        </p:nvSpPr>
        <p:spPr>
          <a:xfrm>
            <a:off x="10744200" y="3769666"/>
            <a:ext cx="1371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444F47-C0F4-3671-3A0C-92A59F84C72C}"/>
              </a:ext>
            </a:extLst>
          </p:cNvPr>
          <p:cNvSpPr txBox="1"/>
          <p:nvPr/>
        </p:nvSpPr>
        <p:spPr>
          <a:xfrm>
            <a:off x="6629400" y="3769665"/>
            <a:ext cx="1371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kernel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286277-740E-50B7-B8EA-98CB11600342}"/>
              </a:ext>
            </a:extLst>
          </p:cNvPr>
          <p:cNvSpPr txBox="1"/>
          <p:nvPr/>
        </p:nvSpPr>
        <p:spPr>
          <a:xfrm>
            <a:off x="4297779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BD7399-D9D2-8246-58A7-F51B7880E86E}"/>
              </a:ext>
            </a:extLst>
          </p:cNvPr>
          <p:cNvSpPr txBox="1"/>
          <p:nvPr/>
        </p:nvSpPr>
        <p:spPr>
          <a:xfrm>
            <a:off x="6629400" y="6742654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515CD4-C7E5-B09F-6CFD-804AAEC39207}"/>
                  </a:ext>
                </a:extLst>
              </p:cNvPr>
              <p:cNvSpPr txBox="1"/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515CD4-C7E5-B09F-6CFD-804AAEC39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blipFill>
                <a:blip r:embed="rId3"/>
                <a:stretch>
                  <a:fillRect l="-21622" b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15610BAF-14C7-7BA6-78EC-6AC2766D19B7}"/>
              </a:ext>
            </a:extLst>
          </p:cNvPr>
          <p:cNvSpPr txBox="1"/>
          <p:nvPr/>
        </p:nvSpPr>
        <p:spPr>
          <a:xfrm>
            <a:off x="6560968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DE5870E-3817-9A09-D505-74195CC86C8F}"/>
              </a:ext>
            </a:extLst>
          </p:cNvPr>
          <p:cNvGraphicFramePr>
            <a:graphicFrameLocks noGrp="1"/>
          </p:cNvGraphicFramePr>
          <p:nvPr/>
        </p:nvGraphicFramePr>
        <p:xfrm>
          <a:off x="7646695" y="4570956"/>
          <a:ext cx="27432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3x1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7x5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072FF9D-E23F-8E6B-C4D1-CA2A587FD1A9}"/>
              </a:ext>
            </a:extLst>
          </p:cNvPr>
          <p:cNvSpPr txBox="1"/>
          <p:nvPr/>
        </p:nvSpPr>
        <p:spPr>
          <a:xfrm>
            <a:off x="10109848" y="5025923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7A6FD57-CA00-894A-843A-FFA61876C0B7}"/>
              </a:ext>
            </a:extLst>
          </p:cNvPr>
          <p:cNvGraphicFramePr>
            <a:graphicFrameLocks noGrp="1"/>
          </p:cNvGraphicFramePr>
          <p:nvPr/>
        </p:nvGraphicFramePr>
        <p:xfrm>
          <a:off x="9881248" y="1371600"/>
          <a:ext cx="3200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518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DD636-37D4-98EE-FF2E-FF63366F9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327D1F-0F87-552E-2BD3-E0E8E1D5F91B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(3, 2)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D31437-D3E0-04BA-F62C-EAD9D2B10E5B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01B153-F907-6FFF-8BEA-E1EC6E047356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371600"/>
          <a:ext cx="2286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68F3CC-20DA-38F0-A72A-2EDEFA1E7BB5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828800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D6044D-BEC9-C632-E445-085826F3BC7D}"/>
              </a:ext>
            </a:extLst>
          </p:cNvPr>
          <p:cNvGraphicFramePr>
            <a:graphicFrameLocks noGrp="1"/>
          </p:cNvGraphicFramePr>
          <p:nvPr/>
        </p:nvGraphicFramePr>
        <p:xfrm>
          <a:off x="1120140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2BFC719-72DC-335E-642C-0DB9CC1E17C7}"/>
              </a:ext>
            </a:extLst>
          </p:cNvPr>
          <p:cNvGraphicFramePr>
            <a:graphicFrameLocks noGrp="1"/>
          </p:cNvGraphicFramePr>
          <p:nvPr/>
        </p:nvGraphicFramePr>
        <p:xfrm>
          <a:off x="3131968" y="4570958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06003F-D4CA-CD83-C008-A61CC8D2E70A}"/>
              </a:ext>
            </a:extLst>
          </p:cNvPr>
          <p:cNvGraphicFramePr>
            <a:graphicFrameLocks noGrp="1"/>
          </p:cNvGraphicFramePr>
          <p:nvPr/>
        </p:nvGraphicFramePr>
        <p:xfrm>
          <a:off x="546359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876E7B1-D8CB-A02F-B3AB-535D86B6171F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628768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8F3068F-CE08-780B-C3C3-013134F9C363}"/>
              </a:ext>
            </a:extLst>
          </p:cNvPr>
          <p:cNvGraphicFramePr>
            <a:graphicFrameLocks noGrp="1"/>
          </p:cNvGraphicFramePr>
          <p:nvPr/>
        </p:nvGraphicFramePr>
        <p:xfrm>
          <a:off x="7795211" y="6731148"/>
          <a:ext cx="64008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96420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9442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E6ECEFD-44E1-1765-DD63-8CE1C5F6EFF2}"/>
              </a:ext>
            </a:extLst>
          </p:cNvPr>
          <p:cNvSpPr txBox="1"/>
          <p:nvPr/>
        </p:nvSpPr>
        <p:spPr>
          <a:xfrm>
            <a:off x="2514600" y="3769667"/>
            <a:ext cx="13716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C912EB-78C5-97ED-96B0-1B39E377D444}"/>
              </a:ext>
            </a:extLst>
          </p:cNvPr>
          <p:cNvSpPr txBox="1"/>
          <p:nvPr/>
        </p:nvSpPr>
        <p:spPr>
          <a:xfrm>
            <a:off x="10744200" y="3769666"/>
            <a:ext cx="1371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64B9EF-91CD-640A-A1D2-3279867AA666}"/>
              </a:ext>
            </a:extLst>
          </p:cNvPr>
          <p:cNvSpPr txBox="1"/>
          <p:nvPr/>
        </p:nvSpPr>
        <p:spPr>
          <a:xfrm>
            <a:off x="6629400" y="3769665"/>
            <a:ext cx="1371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kernel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D771D-782D-D988-EAE0-631FC6B98350}"/>
              </a:ext>
            </a:extLst>
          </p:cNvPr>
          <p:cNvSpPr txBox="1"/>
          <p:nvPr/>
        </p:nvSpPr>
        <p:spPr>
          <a:xfrm>
            <a:off x="4297779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0390F9-E1E2-00F9-AD89-50227D4888E2}"/>
              </a:ext>
            </a:extLst>
          </p:cNvPr>
          <p:cNvSpPr txBox="1"/>
          <p:nvPr/>
        </p:nvSpPr>
        <p:spPr>
          <a:xfrm>
            <a:off x="6629400" y="6742654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D7F8F4-266D-3E72-B3A7-A8FC03C62529}"/>
                  </a:ext>
                </a:extLst>
              </p:cNvPr>
              <p:cNvSpPr txBox="1"/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D7F8F4-266D-3E72-B3A7-A8FC03C62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blipFill>
                <a:blip r:embed="rId3"/>
                <a:stretch>
                  <a:fillRect l="-21622" b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012B3CF-26E7-49A0-0C15-99ACF485B8CD}"/>
              </a:ext>
            </a:extLst>
          </p:cNvPr>
          <p:cNvSpPr txBox="1"/>
          <p:nvPr/>
        </p:nvSpPr>
        <p:spPr>
          <a:xfrm>
            <a:off x="6560968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A6C9884-2FD5-1ECE-C951-DA99390F4DBD}"/>
              </a:ext>
            </a:extLst>
          </p:cNvPr>
          <p:cNvGraphicFramePr>
            <a:graphicFrameLocks noGrp="1"/>
          </p:cNvGraphicFramePr>
          <p:nvPr/>
        </p:nvGraphicFramePr>
        <p:xfrm>
          <a:off x="7646695" y="4570956"/>
          <a:ext cx="27432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4x1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8x5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C79677F-83F3-BF39-1455-1DBC4A1004A6}"/>
              </a:ext>
            </a:extLst>
          </p:cNvPr>
          <p:cNvSpPr txBox="1"/>
          <p:nvPr/>
        </p:nvSpPr>
        <p:spPr>
          <a:xfrm>
            <a:off x="10109848" y="5025923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64C1E21-DA70-FCC1-4D2A-8810C5CFE7E8}"/>
              </a:ext>
            </a:extLst>
          </p:cNvPr>
          <p:cNvGraphicFramePr>
            <a:graphicFrameLocks noGrp="1"/>
          </p:cNvGraphicFramePr>
          <p:nvPr/>
        </p:nvGraphicFramePr>
        <p:xfrm>
          <a:off x="9881248" y="1371600"/>
          <a:ext cx="3200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329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6FC90-1FEB-02A7-6688-077BDE2C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A3476E-F3AB-61C3-9FDF-8C08335A7918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(3, 3)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69E836-BEC9-4EB9-9708-6C17FE967FFF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C248309-4C6A-4347-A9B9-54F0A5DF3E8D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371600"/>
          <a:ext cx="22860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C9CC4E-BD85-77CB-62F6-F6F37C258104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828800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884723-8FC9-20DE-AA33-4B503733DCF1}"/>
              </a:ext>
            </a:extLst>
          </p:cNvPr>
          <p:cNvGraphicFramePr>
            <a:graphicFrameLocks noGrp="1"/>
          </p:cNvGraphicFramePr>
          <p:nvPr/>
        </p:nvGraphicFramePr>
        <p:xfrm>
          <a:off x="1120140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D04C75F-8236-6164-B95C-72B4DD9BA395}"/>
              </a:ext>
            </a:extLst>
          </p:cNvPr>
          <p:cNvGraphicFramePr>
            <a:graphicFrameLocks noGrp="1"/>
          </p:cNvGraphicFramePr>
          <p:nvPr/>
        </p:nvGraphicFramePr>
        <p:xfrm>
          <a:off x="3131968" y="4570958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A5053EA-7CA5-8510-CA60-2E2D05C699AE}"/>
              </a:ext>
            </a:extLst>
          </p:cNvPr>
          <p:cNvGraphicFramePr>
            <a:graphicFrameLocks noGrp="1"/>
          </p:cNvGraphicFramePr>
          <p:nvPr/>
        </p:nvGraphicFramePr>
        <p:xfrm>
          <a:off x="5463590" y="457095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49EBB3D-2617-A31F-3CA3-9A55D5ED072A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6287686"/>
          <a:ext cx="13716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8CA2BD7-D0AB-DAE7-8613-E5BF8FD9DC34}"/>
              </a:ext>
            </a:extLst>
          </p:cNvPr>
          <p:cNvGraphicFramePr>
            <a:graphicFrameLocks noGrp="1"/>
          </p:cNvGraphicFramePr>
          <p:nvPr/>
        </p:nvGraphicFramePr>
        <p:xfrm>
          <a:off x="7795211" y="6731148"/>
          <a:ext cx="64008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96420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09442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44B4320-0F26-FB5F-946C-F49D386D735E}"/>
              </a:ext>
            </a:extLst>
          </p:cNvPr>
          <p:cNvSpPr txBox="1"/>
          <p:nvPr/>
        </p:nvSpPr>
        <p:spPr>
          <a:xfrm>
            <a:off x="2514600" y="3769667"/>
            <a:ext cx="13716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input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1C3AA6-D97D-BAE8-CA5A-4C5EE616B74D}"/>
              </a:ext>
            </a:extLst>
          </p:cNvPr>
          <p:cNvSpPr txBox="1"/>
          <p:nvPr/>
        </p:nvSpPr>
        <p:spPr>
          <a:xfrm>
            <a:off x="10744200" y="3769666"/>
            <a:ext cx="13716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84290F-E00D-BE88-FE75-9D2876409649}"/>
              </a:ext>
            </a:extLst>
          </p:cNvPr>
          <p:cNvSpPr txBox="1"/>
          <p:nvPr/>
        </p:nvSpPr>
        <p:spPr>
          <a:xfrm>
            <a:off x="6629400" y="3769665"/>
            <a:ext cx="13716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kernel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02BF7-6E13-145A-C59E-00B7F7FB4543}"/>
              </a:ext>
            </a:extLst>
          </p:cNvPr>
          <p:cNvSpPr txBox="1"/>
          <p:nvPr/>
        </p:nvSpPr>
        <p:spPr>
          <a:xfrm>
            <a:off x="4297779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AA299-9314-28E4-FEE6-C4BEA4C758A2}"/>
              </a:ext>
            </a:extLst>
          </p:cNvPr>
          <p:cNvSpPr txBox="1"/>
          <p:nvPr/>
        </p:nvSpPr>
        <p:spPr>
          <a:xfrm>
            <a:off x="6629400" y="6742654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309993-9FC3-F725-D4CB-3A36600A60B9}"/>
                  </a:ext>
                </a:extLst>
              </p:cNvPr>
              <p:cNvSpPr txBox="1"/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309993-9FC3-F725-D4CB-3A36600A6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299" y="6678761"/>
                <a:ext cx="676992" cy="980525"/>
              </a:xfrm>
              <a:prstGeom prst="rect">
                <a:avLst/>
              </a:prstGeom>
              <a:blipFill>
                <a:blip r:embed="rId3"/>
                <a:stretch>
                  <a:fillRect l="-21622" b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8C1757FF-E984-0C1C-EE11-13F72F707F55}"/>
              </a:ext>
            </a:extLst>
          </p:cNvPr>
          <p:cNvSpPr txBox="1"/>
          <p:nvPr/>
        </p:nvSpPr>
        <p:spPr>
          <a:xfrm>
            <a:off x="6560968" y="502592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70D5ADD-213B-ED89-8B26-C56DCDEA252B}"/>
              </a:ext>
            </a:extLst>
          </p:cNvPr>
          <p:cNvGraphicFramePr>
            <a:graphicFrameLocks noGrp="1"/>
          </p:cNvGraphicFramePr>
          <p:nvPr/>
        </p:nvGraphicFramePr>
        <p:xfrm>
          <a:off x="7646695" y="4570956"/>
          <a:ext cx="27432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4339991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4690534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9234818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5x1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3535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6x2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200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7x3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8x4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9x5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86264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DDDA4995-3CA5-72BF-EB69-183907E4087A}"/>
              </a:ext>
            </a:extLst>
          </p:cNvPr>
          <p:cNvSpPr txBox="1"/>
          <p:nvPr/>
        </p:nvSpPr>
        <p:spPr>
          <a:xfrm>
            <a:off x="10109848" y="5025923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=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D0BF6F1-3FAF-9D2B-F762-389F494FBBBB}"/>
              </a:ext>
            </a:extLst>
          </p:cNvPr>
          <p:cNvGraphicFramePr>
            <a:graphicFrameLocks noGrp="1"/>
          </p:cNvGraphicFramePr>
          <p:nvPr/>
        </p:nvGraphicFramePr>
        <p:xfrm>
          <a:off x="9881248" y="1371600"/>
          <a:ext cx="3200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201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00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4082-CAE5-5CD7-8542-7985D21E8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9347584-A387-495E-D75E-8C327B26FBA7}"/>
              </a:ext>
            </a:extLst>
          </p:cNvPr>
          <p:cNvSpPr/>
          <p:nvPr/>
        </p:nvSpPr>
        <p:spPr>
          <a:xfrm>
            <a:off x="7886700" y="4071257"/>
            <a:ext cx="2117270" cy="483695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37A865-DD7A-60DC-779C-75934181DFCA}"/>
              </a:ext>
            </a:extLst>
          </p:cNvPr>
          <p:cNvSpPr/>
          <p:nvPr/>
        </p:nvSpPr>
        <p:spPr>
          <a:xfrm>
            <a:off x="10330542" y="4071257"/>
            <a:ext cx="1230085" cy="48369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4F0B8C-DAE3-A108-3496-65F4453221E7}"/>
              </a:ext>
            </a:extLst>
          </p:cNvPr>
          <p:cNvSpPr/>
          <p:nvPr/>
        </p:nvSpPr>
        <p:spPr>
          <a:xfrm>
            <a:off x="6640284" y="4071257"/>
            <a:ext cx="1034143" cy="48369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4A9F23-1464-E635-C7FF-2AB312B0293D}"/>
              </a:ext>
            </a:extLst>
          </p:cNvPr>
          <p:cNvSpPr/>
          <p:nvPr/>
        </p:nvSpPr>
        <p:spPr>
          <a:xfrm>
            <a:off x="4052208" y="4071257"/>
            <a:ext cx="2424791" cy="483695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1C9446-67EC-2214-A4AA-656DFD073FD3}"/>
              </a:ext>
            </a:extLst>
          </p:cNvPr>
          <p:cNvSpPr/>
          <p:nvPr/>
        </p:nvSpPr>
        <p:spPr>
          <a:xfrm>
            <a:off x="2318656" y="4071257"/>
            <a:ext cx="1208308" cy="483695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40A37-966D-13B4-AF01-F45CB495C204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an Image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1370D2-7B17-EC80-CB54-FC028BFA705F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FEAD35E-B37F-EF68-C019-5ED61D670E62}"/>
              </a:ext>
            </a:extLst>
          </p:cNvPr>
          <p:cNvSpPr txBox="1"/>
          <p:nvPr/>
        </p:nvSpPr>
        <p:spPr>
          <a:xfrm>
            <a:off x="2318656" y="1816849"/>
            <a:ext cx="4386943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variable to store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2EC02-7497-5F83-02A8-C2B5CCB0810F}"/>
              </a:ext>
            </a:extLst>
          </p:cNvPr>
          <p:cNvSpPr txBox="1"/>
          <p:nvPr/>
        </p:nvSpPr>
        <p:spPr>
          <a:xfrm>
            <a:off x="9209312" y="1794012"/>
            <a:ext cx="362494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data type of result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F66BA-0859-539F-BEA0-AB2D13834E7F}"/>
              </a:ext>
            </a:extLst>
          </p:cNvPr>
          <p:cNvSpPr txBox="1"/>
          <p:nvPr/>
        </p:nvSpPr>
        <p:spPr>
          <a:xfrm>
            <a:off x="2710542" y="6288934"/>
            <a:ext cx="5682343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function to correlate an image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2BBF80-9E9D-6050-837F-87847BF37057}"/>
              </a:ext>
            </a:extLst>
          </p:cNvPr>
          <p:cNvCxnSpPr>
            <a:stCxn id="5" idx="2"/>
          </p:cNvCxnSpPr>
          <p:nvPr/>
        </p:nvCxnSpPr>
        <p:spPr>
          <a:xfrm flipH="1">
            <a:off x="2928256" y="2463180"/>
            <a:ext cx="1583872" cy="160807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F4D505-A5B3-8DF9-CBCA-7D00F9F647D3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flipH="1">
            <a:off x="8945335" y="2440343"/>
            <a:ext cx="2076449" cy="163091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F466D5-1F85-F358-5995-5029ABEDC46C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5257799" y="4554952"/>
            <a:ext cx="293915" cy="173398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D71B817-A615-D046-A661-EC02C3A2517E}"/>
              </a:ext>
            </a:extLst>
          </p:cNvPr>
          <p:cNvSpPr txBox="1"/>
          <p:nvPr/>
        </p:nvSpPr>
        <p:spPr>
          <a:xfrm>
            <a:off x="2253344" y="4197162"/>
            <a:ext cx="9905998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filter2D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CV_32F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sz="28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1577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4F755-6DC2-5A30-1C37-B36465EC3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0A9510-C5D8-EFC8-0FC6-8E62B849A2B1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Blur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A4383D0-C3F0-92ED-3BA2-C07BDD896D51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04C6650-E529-6997-A5FE-81212192ABC9}"/>
              </a:ext>
            </a:extLst>
          </p:cNvPr>
          <p:cNvSpPr txBox="1"/>
          <p:nvPr/>
        </p:nvSpPr>
        <p:spPr>
          <a:xfrm>
            <a:off x="1238637" y="6581503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Original Image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56A458-C336-F2E7-2145-00E722256E7F}"/>
                  </a:ext>
                </a:extLst>
              </p:cNvPr>
              <p:cNvSpPr txBox="1"/>
              <p:nvPr/>
            </p:nvSpPr>
            <p:spPr>
              <a:xfrm>
                <a:off x="6296163" y="6581503"/>
                <a:ext cx="2048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Fig: Kernel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5 ×5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56A458-C336-F2E7-2145-00E722256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163" y="6581503"/>
                <a:ext cx="2048959" cy="369332"/>
              </a:xfrm>
              <a:prstGeom prst="rect">
                <a:avLst/>
              </a:prstGeom>
              <a:blipFill>
                <a:blip r:embed="rId2"/>
                <a:stretch>
                  <a:fillRect l="-2679" t="-11667" r="-386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5EFA191-E34A-6E47-31E4-2A9B5EEEB30E}"/>
              </a:ext>
            </a:extLst>
          </p:cNvPr>
          <p:cNvSpPr txBox="1"/>
          <p:nvPr/>
        </p:nvSpPr>
        <p:spPr>
          <a:xfrm>
            <a:off x="11126824" y="65815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Convolved Image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AB06DA-94DD-2ABD-CA7A-40040DB7E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285" y="2011680"/>
            <a:ext cx="4572000" cy="457200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0A313E2-1734-6778-1D3D-72282E1AFBC5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2697480"/>
          <a:ext cx="32004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62C7EF5-05F0-EDAD-861B-EABFBBC0F383}"/>
              </a:ext>
            </a:extLst>
          </p:cNvPr>
          <p:cNvSpPr txBox="1"/>
          <p:nvPr/>
        </p:nvSpPr>
        <p:spPr>
          <a:xfrm>
            <a:off x="4321629" y="7498079"/>
            <a:ext cx="5987142" cy="384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3600" dirty="0">
                <a:solidFill>
                  <a:srgbClr val="267F99"/>
                </a:solidFill>
                <a:latin typeface="Consolas" panose="020B0609020204030204" pitchFamily="49" charset="0"/>
              </a:rPr>
              <a:t>cv2</a:t>
            </a:r>
            <a:r>
              <a:rPr lang="en-US" sz="3600" dirty="0">
                <a:solidFill>
                  <a:srgbClr val="202020"/>
                </a:solidFill>
                <a:latin typeface="Consolas" panose="020B0609020204030204" pitchFamily="49" charset="0"/>
              </a:rPr>
              <a:t>.</a:t>
            </a:r>
            <a:r>
              <a:rPr lang="en-US" sz="3600" dirty="0">
                <a:solidFill>
                  <a:srgbClr val="8250DF"/>
                </a:solidFill>
                <a:latin typeface="Consolas" panose="020B0609020204030204" pitchFamily="49" charset="0"/>
              </a:rPr>
              <a:t>blur</a:t>
            </a:r>
            <a:r>
              <a:rPr lang="en-US" sz="3600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1F2328"/>
                </a:solidFill>
                <a:latin typeface="Consolas" panose="020B0609020204030204" pitchFamily="49" charset="0"/>
              </a:rPr>
              <a:t>image</a:t>
            </a:r>
            <a:r>
              <a:rPr lang="en-US" sz="3600" dirty="0">
                <a:solidFill>
                  <a:srgbClr val="202020"/>
                </a:solidFill>
                <a:latin typeface="Consolas" panose="020B0609020204030204" pitchFamily="49" charset="0"/>
              </a:rPr>
              <a:t>, (5, 5))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4CE2F7-94F0-EB41-F1DF-FFEB3DCA8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168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7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162F4-EBF1-B34C-B389-E8D7CD3B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1A1D26-6D37-99EB-050B-953E2977945C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Blur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3E7ACF-AF7F-C9DA-0995-7FB2A8BF69B8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81B2E82-9664-27E1-9755-22D0B965EE32}"/>
              </a:ext>
            </a:extLst>
          </p:cNvPr>
          <p:cNvSpPr txBox="1"/>
          <p:nvPr/>
        </p:nvSpPr>
        <p:spPr>
          <a:xfrm>
            <a:off x="1238637" y="6581503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Original Image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8063E7-AFF4-D581-9944-049C9511CC8C}"/>
                  </a:ext>
                </a:extLst>
              </p:cNvPr>
              <p:cNvSpPr txBox="1"/>
              <p:nvPr/>
            </p:nvSpPr>
            <p:spPr>
              <a:xfrm>
                <a:off x="6296163" y="6581503"/>
                <a:ext cx="2048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Fig: Kernel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5 ×5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8063E7-AFF4-D581-9944-049C9511C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163" y="6581503"/>
                <a:ext cx="2048959" cy="369332"/>
              </a:xfrm>
              <a:prstGeom prst="rect">
                <a:avLst/>
              </a:prstGeom>
              <a:blipFill>
                <a:blip r:embed="rId2"/>
                <a:stretch>
                  <a:fillRect l="-2679" t="-11667" r="-386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835698A-C20E-3273-BD26-31B7A5CC5C56}"/>
              </a:ext>
            </a:extLst>
          </p:cNvPr>
          <p:cNvSpPr txBox="1"/>
          <p:nvPr/>
        </p:nvSpPr>
        <p:spPr>
          <a:xfrm>
            <a:off x="11126824" y="65815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Convolved Image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74D97AA-E12D-41EE-EE01-FFDA216D7420}"/>
              </a:ext>
            </a:extLst>
          </p:cNvPr>
          <p:cNvGraphicFramePr>
            <a:graphicFrameLocks noGrp="1"/>
          </p:cNvGraphicFramePr>
          <p:nvPr/>
        </p:nvGraphicFramePr>
        <p:xfrm>
          <a:off x="5715000" y="2697480"/>
          <a:ext cx="32004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63967816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9862442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0064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47461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1CA69EF-F8C5-7B1D-6699-D9F052C83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2009502"/>
            <a:ext cx="4572000" cy="457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F1ACA7-4F2E-1C51-3B38-B07FC6E96F1C}"/>
              </a:ext>
            </a:extLst>
          </p:cNvPr>
          <p:cNvSpPr txBox="1"/>
          <p:nvPr/>
        </p:nvSpPr>
        <p:spPr>
          <a:xfrm>
            <a:off x="2939143" y="7493723"/>
            <a:ext cx="8752114" cy="38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3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6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GaussianBlur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3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5, 5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3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4CE2F7-94F0-EB41-F1DF-FFEB3DCA8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" y="2009501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3310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488A-44A3-E75B-FF8F-CE57BF16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A75B7C-9FBE-0CBF-DF19-B1697E609C46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D89079-3C69-51CA-A011-6323309171E4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E1DB68-1895-D391-348F-B43E6A8B791C}"/>
              </a:ext>
            </a:extLst>
          </p:cNvPr>
          <p:cNvSpPr txBox="1"/>
          <p:nvPr/>
        </p:nvSpPr>
        <p:spPr>
          <a:xfrm>
            <a:off x="1238637" y="6581503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Original Image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E85999-3528-D5E9-8D09-974B05E2DF66}"/>
                  </a:ext>
                </a:extLst>
              </p:cNvPr>
              <p:cNvSpPr txBox="1"/>
              <p:nvPr/>
            </p:nvSpPr>
            <p:spPr>
              <a:xfrm>
                <a:off x="6296163" y="6581503"/>
                <a:ext cx="2048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Fig: Kernel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E85999-3528-D5E9-8D09-974B05E2D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163" y="6581503"/>
                <a:ext cx="2048959" cy="369332"/>
              </a:xfrm>
              <a:prstGeom prst="rect">
                <a:avLst/>
              </a:prstGeom>
              <a:blipFill>
                <a:blip r:embed="rId2"/>
                <a:stretch>
                  <a:fillRect l="-2679" t="-11667" r="-386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A17809D-3364-C453-D24E-4C085A3317A3}"/>
              </a:ext>
            </a:extLst>
          </p:cNvPr>
          <p:cNvSpPr txBox="1"/>
          <p:nvPr/>
        </p:nvSpPr>
        <p:spPr>
          <a:xfrm>
            <a:off x="11126824" y="65815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Convolved Image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FA830D8-21A0-0D69-1187-685686669BB7}"/>
              </a:ext>
            </a:extLst>
          </p:cNvPr>
          <p:cNvGraphicFramePr>
            <a:graphicFrameLocks noGrp="1"/>
          </p:cNvGraphicFramePr>
          <p:nvPr/>
        </p:nvGraphicFramePr>
        <p:xfrm>
          <a:off x="6355080" y="3335382"/>
          <a:ext cx="192024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367232C-C9C7-BB02-EBB4-8A2CEEDB21CA}"/>
              </a:ext>
            </a:extLst>
          </p:cNvPr>
          <p:cNvSpPr txBox="1"/>
          <p:nvPr/>
        </p:nvSpPr>
        <p:spPr>
          <a:xfrm>
            <a:off x="2688772" y="7662512"/>
            <a:ext cx="10123714" cy="38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3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6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filter2D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6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CV_32F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14BAD1-0286-5877-C4BC-374AA575E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681" y="2013855"/>
            <a:ext cx="4572000" cy="457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50B427-D1E0-CF0A-41DA-931558C91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19" y="201168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959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7B5F-EB75-C648-2D37-093B7ADF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94C878-9CED-0D0C-E90F-71E8B071E10D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 (4-Neighbour Laplacian)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34792C-DD94-BA03-7C41-AF3C029CDAB5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AB4BCAD-9669-0FBB-53C3-869F3683C327}"/>
              </a:ext>
            </a:extLst>
          </p:cNvPr>
          <p:cNvSpPr txBox="1"/>
          <p:nvPr/>
        </p:nvSpPr>
        <p:spPr>
          <a:xfrm>
            <a:off x="1238637" y="6581503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Original Image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D03A9D-4F12-7CC5-6D5D-8230BFF380A3}"/>
                  </a:ext>
                </a:extLst>
              </p:cNvPr>
              <p:cNvSpPr txBox="1"/>
              <p:nvPr/>
            </p:nvSpPr>
            <p:spPr>
              <a:xfrm>
                <a:off x="6296163" y="6581503"/>
                <a:ext cx="2048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Fig: Kernel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D03A9D-4F12-7CC5-6D5D-8230BFF38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163" y="6581503"/>
                <a:ext cx="2048959" cy="369332"/>
              </a:xfrm>
              <a:prstGeom prst="rect">
                <a:avLst/>
              </a:prstGeom>
              <a:blipFill>
                <a:blip r:embed="rId2"/>
                <a:stretch>
                  <a:fillRect l="-2679" t="-11667" r="-386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C58E00B-6BD5-B9EE-0AEF-FF9A56E8BF3C}"/>
              </a:ext>
            </a:extLst>
          </p:cNvPr>
          <p:cNvSpPr txBox="1"/>
          <p:nvPr/>
        </p:nvSpPr>
        <p:spPr>
          <a:xfrm>
            <a:off x="11126824" y="65815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Convolved Image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55EB8B0-EB23-A583-32BD-B2D8D2319A8B}"/>
              </a:ext>
            </a:extLst>
          </p:cNvPr>
          <p:cNvGraphicFramePr>
            <a:graphicFrameLocks noGrp="1"/>
          </p:cNvGraphicFramePr>
          <p:nvPr/>
        </p:nvGraphicFramePr>
        <p:xfrm>
          <a:off x="6355080" y="3335382"/>
          <a:ext cx="192024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8A8E9E5-3FCC-7CAB-1A14-60E7708FD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04" y="2009502"/>
            <a:ext cx="4572000" cy="457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ADFA78-0829-CFB7-FE74-1CDC38124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96" y="2009502"/>
            <a:ext cx="4572000" cy="4572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3DC702-DD14-EDCD-F8E2-5731D2984B1C}"/>
              </a:ext>
            </a:extLst>
          </p:cNvPr>
          <p:cNvSpPr txBox="1"/>
          <p:nvPr/>
        </p:nvSpPr>
        <p:spPr>
          <a:xfrm>
            <a:off x="2688772" y="7662512"/>
            <a:ext cx="10123714" cy="38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3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6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filter2D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6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CV_32F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17255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3D4F58-04BE-3D57-A118-B9697083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1C03B4-AF66-DED4-7997-387BB87CD6AC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 (8-Neighbour Laplacian)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B2211B-00CD-7355-47CA-8E917EB331DA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39D6B23-B965-1C68-2C1C-228466D8F4A6}"/>
              </a:ext>
            </a:extLst>
          </p:cNvPr>
          <p:cNvSpPr txBox="1"/>
          <p:nvPr/>
        </p:nvSpPr>
        <p:spPr>
          <a:xfrm>
            <a:off x="1238637" y="6581503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Original Image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7B8C8E-FE50-DFD7-B640-35B9C3BEAC11}"/>
                  </a:ext>
                </a:extLst>
              </p:cNvPr>
              <p:cNvSpPr txBox="1"/>
              <p:nvPr/>
            </p:nvSpPr>
            <p:spPr>
              <a:xfrm>
                <a:off x="6296163" y="6581503"/>
                <a:ext cx="2048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Fig: Kernel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7B8C8E-FE50-DFD7-B640-35B9C3BEA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163" y="6581503"/>
                <a:ext cx="2048959" cy="369332"/>
              </a:xfrm>
              <a:prstGeom prst="rect">
                <a:avLst/>
              </a:prstGeom>
              <a:blipFill>
                <a:blip r:embed="rId2"/>
                <a:stretch>
                  <a:fillRect l="-2679" t="-11667" r="-386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C283BF2-CD15-4C10-217B-E376FF974CAC}"/>
              </a:ext>
            </a:extLst>
          </p:cNvPr>
          <p:cNvSpPr txBox="1"/>
          <p:nvPr/>
        </p:nvSpPr>
        <p:spPr>
          <a:xfrm>
            <a:off x="11126824" y="658150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Convolved Image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727F521-59B7-4AC8-85D3-49572A38E7CA}"/>
              </a:ext>
            </a:extLst>
          </p:cNvPr>
          <p:cNvGraphicFramePr>
            <a:graphicFrameLocks noGrp="1"/>
          </p:cNvGraphicFramePr>
          <p:nvPr/>
        </p:nvGraphicFramePr>
        <p:xfrm>
          <a:off x="6355080" y="3335382"/>
          <a:ext cx="192024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603272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5848433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67622457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917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372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155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5934E49-9BA0-9D51-E639-7015FA4C1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04" y="2009502"/>
            <a:ext cx="4572000" cy="4572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563EBC-46A2-BD1E-8F74-98475FB51874}"/>
              </a:ext>
            </a:extLst>
          </p:cNvPr>
          <p:cNvSpPr txBox="1"/>
          <p:nvPr/>
        </p:nvSpPr>
        <p:spPr>
          <a:xfrm>
            <a:off x="2688772" y="7662512"/>
            <a:ext cx="10123714" cy="38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3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60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filter2D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6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CV_32F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6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sz="36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85F90-81F0-457E-2070-7B92256E7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96" y="200950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837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98F7-D3D2-6F91-B09A-93C2E1BE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11E2D5-B62D-3BAD-A848-11C8C20B97D8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Work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15D6C0-6AF0-CD89-B6BD-E3BE5CA6772C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392BFC9-95EE-56C2-AF01-C8EE45D60ACC}"/>
              </a:ext>
            </a:extLst>
          </p:cNvPr>
          <p:cNvSpPr txBox="1"/>
          <p:nvPr/>
        </p:nvSpPr>
        <p:spPr>
          <a:xfrm>
            <a:off x="174171" y="1232426"/>
            <a:ext cx="1417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Apply the Sobel filter in both x and y direction, compute the gradient magnitude, display and save all images.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D622BA-1771-F969-C68A-5194FB12EA45}"/>
              </a:ext>
            </a:extLst>
          </p:cNvPr>
          <p:cNvSpPr txBox="1"/>
          <p:nvPr/>
        </p:nvSpPr>
        <p:spPr>
          <a:xfrm>
            <a:off x="1322093" y="7132320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Sobel 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9B1666-19CC-7A85-CB36-5FC7109363A4}"/>
              </a:ext>
            </a:extLst>
          </p:cNvPr>
          <p:cNvSpPr txBox="1"/>
          <p:nvPr/>
        </p:nvSpPr>
        <p:spPr>
          <a:xfrm>
            <a:off x="6582829" y="7132320"/>
            <a:ext cx="1355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Sobel 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3AC351-06AC-6161-2BF0-8AABA8FC8064}"/>
              </a:ext>
            </a:extLst>
          </p:cNvPr>
          <p:cNvSpPr txBox="1"/>
          <p:nvPr/>
        </p:nvSpPr>
        <p:spPr>
          <a:xfrm>
            <a:off x="11628567" y="7132320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Magnitude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27743-570F-672F-9EF6-F4C2C2FA3192}"/>
              </a:ext>
            </a:extLst>
          </p:cNvPr>
          <p:cNvSpPr txBox="1"/>
          <p:nvPr/>
        </p:nvSpPr>
        <p:spPr>
          <a:xfrm>
            <a:off x="0" y="7611780"/>
            <a:ext cx="5305696" cy="310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35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5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Sobel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5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5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CV_32F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A25F4-0CCD-421F-3123-8BB4F780076D}"/>
              </a:ext>
            </a:extLst>
          </p:cNvPr>
          <p:cNvSpPr txBox="1"/>
          <p:nvPr/>
        </p:nvSpPr>
        <p:spPr>
          <a:xfrm>
            <a:off x="5109756" y="7611781"/>
            <a:ext cx="7326084" cy="310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35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5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Sobel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5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5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CV_32F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08F489-CA2C-21A5-62C0-18A3322E9667}"/>
              </a:ext>
            </a:extLst>
          </p:cNvPr>
          <p:cNvSpPr txBox="1"/>
          <p:nvPr/>
        </p:nvSpPr>
        <p:spPr>
          <a:xfrm>
            <a:off x="10966658" y="7611780"/>
            <a:ext cx="3095044" cy="310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sz="135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magnitude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cv2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350" b="0" dirty="0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magnitude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5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5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35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287C28-5095-4318-E01A-315348236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" y="2743200"/>
            <a:ext cx="4389120" cy="43891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A98960-BDD2-D546-3C60-1D61C56E2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852" y="2743200"/>
            <a:ext cx="4389120" cy="43891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4197B9-C848-A58B-BBBC-4D0C46521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0" y="2743200"/>
            <a:ext cx="438912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088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D51F-5A0A-2B34-42D8-F695359B6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3495D-4A61-9514-B877-EC1024ADBEFA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Work (B1)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35B-FEBD-2BBD-0A04-49B802BD9C8B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E6A202-6C12-86CB-5259-9485D957F15E}"/>
              </a:ext>
            </a:extLst>
          </p:cNvPr>
          <p:cNvSpPr txBox="1"/>
          <p:nvPr/>
        </p:nvSpPr>
        <p:spPr>
          <a:xfrm>
            <a:off x="174171" y="1232426"/>
            <a:ext cx="141732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Implement two methods: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Convolution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Parameters: image, kernel (non-flipped form)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Output: convolved image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Requirements: don’t flip the kernel, use indexing techniques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2D (1</a:t>
            </a:r>
            <a:r>
              <a:rPr lang="en-US" sz="3600" baseline="30000" dirty="0"/>
              <a:t>st</a:t>
            </a:r>
            <a:r>
              <a:rPr lang="en-US" sz="3600" dirty="0"/>
              <a:t>) Derivative of Gaussian Kernel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Parameters: size of the kernel, standard deviation of both axis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Output: kernel matrix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Requirements: try to generate approximate integer valued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Use the above methods to convolve the provided image and show the result in a single plot (original image, kernel, convolved image)</a:t>
            </a:r>
          </a:p>
        </p:txBody>
      </p:sp>
    </p:spTree>
    <p:extLst>
      <p:ext uri="{BB962C8B-B14F-4D97-AF65-F5344CB8AC3E}">
        <p14:creationId xmlns:p14="http://schemas.microsoft.com/office/powerpoint/2010/main" val="37215112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F1FE-F3DB-68F5-E9F1-482E9F0E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DA0D92-4BD4-574B-2636-51FDE2112720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Work (A1)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0B0371-9AE0-82D7-457E-047563A87173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B683CA-3CF3-FC8D-C96A-4B0CCC34ABBA}"/>
              </a:ext>
            </a:extLst>
          </p:cNvPr>
          <p:cNvSpPr txBox="1"/>
          <p:nvPr/>
        </p:nvSpPr>
        <p:spPr>
          <a:xfrm>
            <a:off x="174171" y="1232426"/>
            <a:ext cx="141732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Implement two methods: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Convolution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Parameters: image, kernel (non-flipped form)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Output: convolved image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Requirements: don’t flip the kernel, use indexing techniques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2D Gaussian Kernel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Parameters: size of the kernel, standard deviation of both axis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Output: kernel matrix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/>
              <a:t>Requirements: try to generate approximate integer valued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Use the above methods to convolve the provided image and show the result in a single plot (original image, kernel, convolved image)</a:t>
            </a:r>
          </a:p>
        </p:txBody>
      </p:sp>
    </p:spTree>
    <p:extLst>
      <p:ext uri="{BB962C8B-B14F-4D97-AF65-F5344CB8AC3E}">
        <p14:creationId xmlns:p14="http://schemas.microsoft.com/office/powerpoint/2010/main" val="23946106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C9AC5-3C81-5E6A-8E2A-19C0450E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676B96-62AF-B871-B467-060CC571C1CD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Work (B2)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167979-51C0-739D-2C28-EA26D590A398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C818807-693F-E6BA-6C7B-9C0B84AC64E8}"/>
              </a:ext>
            </a:extLst>
          </p:cNvPr>
          <p:cNvSpPr txBox="1"/>
          <p:nvPr/>
        </p:nvSpPr>
        <p:spPr>
          <a:xfrm>
            <a:off x="174171" y="1232426"/>
            <a:ext cx="1417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Sharpen one image using Unsharp Masking.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Requirements: use your own convolution method, do it step by step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164A0-6B34-CE7D-13DD-D87D3ECA4E40}"/>
              </a:ext>
            </a:extLst>
          </p:cNvPr>
          <p:cNvSpPr txBox="1"/>
          <p:nvPr/>
        </p:nvSpPr>
        <p:spPr>
          <a:xfrm>
            <a:off x="2628379" y="7667005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Original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F73372-3984-57A2-1501-55A05B0BED97}"/>
              </a:ext>
            </a:extLst>
          </p:cNvPr>
          <p:cNvSpPr txBox="1"/>
          <p:nvPr/>
        </p:nvSpPr>
        <p:spPr>
          <a:xfrm>
            <a:off x="9633531" y="767738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Unsharp Masking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34E5BC-AF84-881B-CE00-A26E38B32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477" y="3277885"/>
            <a:ext cx="4389120" cy="4389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D850E7-A5C3-1958-0D58-8EF0A8186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719" y="3295302"/>
            <a:ext cx="438912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783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E0497-D835-5C57-6C60-E9F0CD681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B47C7-9218-8341-109E-98E2FD14C72E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Work (A2)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6EC78A-987F-17DB-4966-CEE2CA3B038C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4BDC861-33F3-4F02-2C8D-F3E3DC18EC89}"/>
              </a:ext>
            </a:extLst>
          </p:cNvPr>
          <p:cNvSpPr txBox="1"/>
          <p:nvPr/>
        </p:nvSpPr>
        <p:spPr>
          <a:xfrm>
            <a:off x="174171" y="1232426"/>
            <a:ext cx="1417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Sharpen one image using Laplacian Sharpening.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Requirements: use your own convolution method, do it step by step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99979-1F5E-06C2-4746-AA1259719A73}"/>
              </a:ext>
            </a:extLst>
          </p:cNvPr>
          <p:cNvSpPr txBox="1"/>
          <p:nvPr/>
        </p:nvSpPr>
        <p:spPr>
          <a:xfrm>
            <a:off x="2682807" y="7462744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Original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786BA-AF6A-EBAD-8F2E-01A952BD3C6C}"/>
              </a:ext>
            </a:extLst>
          </p:cNvPr>
          <p:cNvSpPr txBox="1"/>
          <p:nvPr/>
        </p:nvSpPr>
        <p:spPr>
          <a:xfrm>
            <a:off x="9687959" y="7473127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Laplacian Sharpening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D0B904-932C-134B-37BB-BC279BFC5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47" y="3091041"/>
            <a:ext cx="4389120" cy="4389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1ADFB2-31AC-AA9C-5281-4585378B0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905" y="3091041"/>
            <a:ext cx="438912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492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1CD3-E263-3B84-08EF-656B947E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5A1D6F-40DD-D11F-E72E-5564AB739C25}"/>
              </a:ext>
            </a:extLst>
          </p:cNvPr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637652-3087-5DB2-AA31-776A1713F9EB}"/>
              </a:ext>
            </a:extLst>
          </p:cNvPr>
          <p:cNvCxnSpPr/>
          <p:nvPr/>
        </p:nvCxnSpPr>
        <p:spPr>
          <a:xfrm>
            <a:off x="457200" y="1097280"/>
            <a:ext cx="13716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EDEF99F-4D55-E5B7-D18F-907E869CCFD0}"/>
              </a:ext>
            </a:extLst>
          </p:cNvPr>
          <p:cNvSpPr txBox="1"/>
          <p:nvPr/>
        </p:nvSpPr>
        <p:spPr>
          <a:xfrm>
            <a:off x="457200" y="1243072"/>
            <a:ext cx="13716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A. Wagih, </a:t>
            </a:r>
            <a:r>
              <a:rPr lang="en-US" sz="2800" i="1" dirty="0"/>
              <a:t>"Retina Blood Vessel,"</a:t>
            </a:r>
            <a:r>
              <a:rPr lang="en-US" sz="2800" dirty="0"/>
              <a:t> Kaggle, 2023. [Online]. Available: </a:t>
            </a:r>
            <a:r>
              <a:rPr lang="en-US" sz="2800" dirty="0">
                <a:hlinkClick r:id="rId2"/>
              </a:rPr>
              <a:t>https://www.kaggle.com/datasets/abdallahwagih/retina-blood-vessel</a:t>
            </a:r>
            <a:r>
              <a:rPr lang="en-US" sz="2800" dirty="0"/>
              <a:t>. Accessed: Jul. 13, 2026.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i="1" dirty="0"/>
              <a:t>"Kernel (image processing),"</a:t>
            </a:r>
            <a:r>
              <a:rPr lang="en-US" sz="2800" dirty="0"/>
              <a:t> Wikipedia, The Free Encyclopedia. [Online]. Available: </a:t>
            </a:r>
            <a:r>
              <a:rPr lang="en-US" sz="2800" dirty="0">
                <a:hlinkClick r:id="rId3"/>
              </a:rPr>
              <a:t>https://en.wikipedia.org/wiki/Kernel_(image_processing)</a:t>
            </a:r>
            <a:r>
              <a:rPr lang="en-US" sz="2800" dirty="0"/>
              <a:t>. Accessed: Jul. 13, 2026.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OpenCV, </a:t>
            </a:r>
            <a:r>
              <a:rPr lang="en-US" sz="2800" i="1" dirty="0"/>
              <a:t>"Image Filtering,"</a:t>
            </a:r>
            <a:r>
              <a:rPr lang="en-US" sz="2800" dirty="0"/>
              <a:t> OpenCV Documentation. [Online]. Available: </a:t>
            </a:r>
            <a:r>
              <a:rPr lang="en-US" sz="2800" dirty="0">
                <a:hlinkClick r:id="rId4"/>
              </a:rPr>
              <a:t>https://docs.opencv.org/master/d4/d86/group__imgproc__filter.html</a:t>
            </a:r>
            <a:r>
              <a:rPr lang="en-US" sz="2800" dirty="0"/>
              <a:t>. Accessed: Jul. 13, 2026.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“Sobel operator,” </a:t>
            </a:r>
            <a:r>
              <a:rPr lang="en-US" sz="2800" i="1" dirty="0"/>
              <a:t>Wikipedia, The Free Encyclopedia</a:t>
            </a:r>
            <a:r>
              <a:rPr lang="en-US" sz="2800" dirty="0"/>
              <a:t>. [Online]. Available: </a:t>
            </a:r>
            <a:r>
              <a:rPr lang="en-US" sz="2800" dirty="0">
                <a:hlinkClick r:id="rId5"/>
              </a:rPr>
              <a:t>https://en.wikipedia.org/wiki/Sobel_operator</a:t>
            </a:r>
            <a:r>
              <a:rPr lang="en-US" sz="2800" dirty="0"/>
              <a:t>. Accessed: Jul. 13, 2026.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S. van der Walt </a:t>
            </a:r>
            <a:r>
              <a:rPr lang="en-US" sz="2800" i="1" dirty="0"/>
              <a:t>et al</a:t>
            </a:r>
            <a:r>
              <a:rPr lang="en-US" sz="2800" dirty="0"/>
              <a:t>., “scikit-image: Image processing in Python,” </a:t>
            </a:r>
            <a:r>
              <a:rPr lang="en-US" sz="2800" i="1" dirty="0" err="1"/>
              <a:t>PeerJ</a:t>
            </a:r>
            <a:r>
              <a:rPr lang="en-US" sz="2800" dirty="0"/>
              <a:t>, vol. 2, p. e453, 2014, </a:t>
            </a:r>
            <a:r>
              <a:rPr lang="en-US" sz="2800" dirty="0" err="1"/>
              <a:t>doi</a:t>
            </a:r>
            <a:r>
              <a:rPr lang="en-US" sz="2800" dirty="0"/>
              <a:t>: 10.7717/peerj.453.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R. Fisher, S. Perkins, A. Walker, and E. Wolfart, “Unsharp Filter,” </a:t>
            </a:r>
            <a:r>
              <a:rPr lang="en-US" sz="2800" i="1" dirty="0"/>
              <a:t>Hypermedia Image Processing Reference (HIPR2),</a:t>
            </a:r>
            <a:r>
              <a:rPr lang="en-US" sz="2800" dirty="0"/>
              <a:t> School of Informatics, The University of Edinburgh. [Online]. Available: </a:t>
            </a:r>
            <a:r>
              <a:rPr lang="en-US" sz="2800" dirty="0">
                <a:hlinkClick r:id="rId6"/>
              </a:rPr>
              <a:t>https://homepages.inf.ed.ac.uk/rbf/HIPR2/unsharp.htm</a:t>
            </a:r>
            <a:r>
              <a:rPr lang="en-US" sz="2800" dirty="0"/>
              <a:t>. [Accessed: Jul. 13, 2026].</a:t>
            </a:r>
          </a:p>
        </p:txBody>
      </p:sp>
    </p:spTree>
    <p:extLst>
      <p:ext uri="{BB962C8B-B14F-4D97-AF65-F5344CB8AC3E}">
        <p14:creationId xmlns:p14="http://schemas.microsoft.com/office/powerpoint/2010/main" val="1539155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626</TotalTime>
  <Words>3084</Words>
  <Application>Microsoft Office PowerPoint</Application>
  <PresentationFormat>Custom</PresentationFormat>
  <Paragraphs>1343</Paragraphs>
  <Slides>48</Slides>
  <Notes>20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Arial</vt:lpstr>
      <vt:lpstr>Cambria Math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Mubtashim Abrar Nihal</dc:creator>
  <cp:lastModifiedBy>Md. Mubtashim Abrar Nihal</cp:lastModifiedBy>
  <cp:revision>61</cp:revision>
  <dcterms:created xsi:type="dcterms:W3CDTF">2026-07-04T07:06:49Z</dcterms:created>
  <dcterms:modified xsi:type="dcterms:W3CDTF">2026-07-17T17:42:13Z</dcterms:modified>
</cp:coreProperties>
</file>