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429" r:id="rId4"/>
    <p:sldId id="275" r:id="rId5"/>
    <p:sldId id="276" r:id="rId6"/>
    <p:sldId id="274" r:id="rId7"/>
    <p:sldId id="430" r:id="rId8"/>
    <p:sldId id="431" r:id="rId9"/>
    <p:sldId id="433" r:id="rId10"/>
    <p:sldId id="435" r:id="rId11"/>
    <p:sldId id="432" r:id="rId12"/>
    <p:sldId id="272" r:id="rId13"/>
    <p:sldId id="282" r:id="rId14"/>
    <p:sldId id="292" r:id="rId15"/>
    <p:sldId id="326" r:id="rId16"/>
    <p:sldId id="270" r:id="rId17"/>
    <p:sldId id="4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3447" autoAdjust="0"/>
  </p:normalViewPr>
  <p:slideViewPr>
    <p:cSldViewPr snapToGrid="0">
      <p:cViewPr>
        <p:scale>
          <a:sx n="71" d="100"/>
          <a:sy n="71" d="100"/>
        </p:scale>
        <p:origin x="4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i Rifat Al Muin" userId="e5defbde09aa7d6e" providerId="LiveId" clId="{0E4A2DBC-775E-4ECC-954C-5A3645E75FC5}"/>
    <pc:docChg chg="modSld">
      <pc:chgData name="Kazi Rifat Al Muin" userId="e5defbde09aa7d6e" providerId="LiveId" clId="{0E4A2DBC-775E-4ECC-954C-5A3645E75FC5}" dt="2026-08-11T05:03:00.706" v="0" actId="1035"/>
      <pc:docMkLst>
        <pc:docMk/>
      </pc:docMkLst>
      <pc:sldChg chg="modSp mod">
        <pc:chgData name="Kazi Rifat Al Muin" userId="e5defbde09aa7d6e" providerId="LiveId" clId="{0E4A2DBC-775E-4ECC-954C-5A3645E75FC5}" dt="2026-08-11T05:03:00.706" v="0" actId="1035"/>
        <pc:sldMkLst>
          <pc:docMk/>
          <pc:sldMk cId="0" sldId="282"/>
        </pc:sldMkLst>
        <pc:spChg chg="mod">
          <ac:chgData name="Kazi Rifat Al Muin" userId="e5defbde09aa7d6e" providerId="LiveId" clId="{0E4A2DBC-775E-4ECC-954C-5A3645E75FC5}" dt="2026-08-11T05:03:00.706" v="0" actId="1035"/>
          <ac:spMkLst>
            <pc:docMk/>
            <pc:sldMk cId="0" sldId="28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8421849-A722-7DE4-F9DD-27B53683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D8A9ACE-4417-42F9-1E5B-635A334B3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E04D8BC-9992-8116-8A07-AFBE377B4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74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4102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 and Image Processing  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2: Histogram Equalization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72110-2830-405F-A97D-38124C49880A}"/>
              </a:ext>
            </a:extLst>
          </p:cNvPr>
          <p:cNvSpPr txBox="1"/>
          <p:nvPr/>
        </p:nvSpPr>
        <p:spPr>
          <a:xfrm>
            <a:off x="7439269" y="4332990"/>
            <a:ext cx="37612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Md. </a:t>
            </a:r>
            <a:r>
              <a:rPr lang="en-US" sz="2400" b="1" dirty="0" err="1"/>
              <a:t>Mubtashim</a:t>
            </a:r>
            <a:r>
              <a:rPr lang="en-US" sz="2400" b="1" dirty="0"/>
              <a:t> Abrar Nihal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1524000" y="4332989"/>
            <a:ext cx="2952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96D2-A7D1-40BE-8F7D-8B21874B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BB257-F9D6-42AA-8843-97562ED04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2989"/>
                <a:ext cx="10515600" cy="4975692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dirty="0"/>
                  <a:t>The histogram of an image consists of the x-axis representing the intensity levels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 and the y-axis denoting the h(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) or the p(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) functions. </a:t>
                </a:r>
              </a:p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00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𝐡</m:t>
                    </m:r>
                    <m:r>
                      <a:rPr lang="en-US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  <m:r>
                      <a:rPr lang="en-US" sz="2800" b="1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sz="2800" b="1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BB257-F9D6-42AA-8843-97562ED04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2989"/>
                <a:ext cx="10515600" cy="4975692"/>
              </a:xfrm>
              <a:blipFill>
                <a:blip r:embed="rId2"/>
                <a:stretch>
                  <a:fillRect l="-1217" t="-2083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B7EB72A-DC0D-4265-831B-415EC832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679" y="3068812"/>
            <a:ext cx="4576099" cy="26928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9A93E-833D-4CB6-8791-D04908640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4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247DA21-F60A-8DB4-B30B-98289359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53F9C44-C520-F40A-A69C-B7362EE64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8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Calibri"/>
              <a:buNone/>
            </a:pPr>
            <a:r>
              <a:rPr lang="en-GB" sz="4000" dirty="0">
                <a:solidFill>
                  <a:srgbClr val="2F5496"/>
                </a:solidFill>
              </a:rPr>
              <a:t>Histogram Processing</a:t>
            </a:r>
            <a:endParaRPr lang="en-GB" sz="4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F4203-E9F5-5364-2BEB-0DD11DFB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4950"/>
            <a:ext cx="10286999" cy="4672013"/>
          </a:xfrm>
        </p:spPr>
        <p:txBody>
          <a:bodyPr/>
          <a:lstStyle/>
          <a:p>
            <a:r>
              <a:rPr lang="en-US" dirty="0"/>
              <a:t>A discrete function </a:t>
            </a:r>
            <a:r>
              <a:rPr lang="en-US" b="1" dirty="0"/>
              <a:t>h(</a:t>
            </a:r>
            <a:r>
              <a:rPr lang="en-US" b="1" dirty="0" err="1"/>
              <a:t>r</a:t>
            </a:r>
            <a:r>
              <a:rPr lang="en-US" b="1" baseline="-25000" dirty="0" err="1"/>
              <a:t>k</a:t>
            </a:r>
            <a:r>
              <a:rPr lang="en-US" b="1" dirty="0"/>
              <a:t>) = </a:t>
            </a:r>
            <a:r>
              <a:rPr lang="en-US" b="1" dirty="0" err="1"/>
              <a:t>n</a:t>
            </a:r>
            <a:r>
              <a:rPr lang="en-US" b="1" baseline="-25000" dirty="0" err="1"/>
              <a:t>k</a:t>
            </a:r>
            <a:endParaRPr lang="en-US" b="1" baseline="-25000" dirty="0"/>
          </a:p>
          <a:p>
            <a:r>
              <a:rPr lang="en-US" dirty="0"/>
              <a:t>Where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 is the k</a:t>
            </a:r>
            <a:r>
              <a:rPr lang="en-US" baseline="30000" dirty="0"/>
              <a:t>th</a:t>
            </a:r>
            <a:r>
              <a:rPr lang="en-US" dirty="0"/>
              <a:t> intensity value and </a:t>
            </a:r>
            <a:r>
              <a:rPr lang="en-US" dirty="0" err="1"/>
              <a:t>n</a:t>
            </a:r>
            <a:r>
              <a:rPr lang="en-US" baseline="-25000" dirty="0" err="1"/>
              <a:t>k</a:t>
            </a:r>
            <a:r>
              <a:rPr lang="en-US" dirty="0"/>
              <a:t> is the number of pixels in the image with intensity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 </a:t>
            </a:r>
          </a:p>
          <a:p>
            <a:r>
              <a:rPr lang="en-US" dirty="0"/>
              <a:t>Normalized histogram </a:t>
            </a:r>
            <a:r>
              <a:rPr lang="en-US" b="1" dirty="0"/>
              <a:t>p(</a:t>
            </a:r>
            <a:r>
              <a:rPr lang="en-US" b="1" dirty="0" err="1"/>
              <a:t>r</a:t>
            </a:r>
            <a:r>
              <a:rPr lang="en-US" b="1" baseline="-25000" dirty="0" err="1"/>
              <a:t>k</a:t>
            </a:r>
            <a:r>
              <a:rPr lang="en-US" b="1" dirty="0"/>
              <a:t>) = </a:t>
            </a:r>
            <a:r>
              <a:rPr lang="en-US" b="1" dirty="0" err="1"/>
              <a:t>n</a:t>
            </a:r>
            <a:r>
              <a:rPr lang="en-US" b="1" baseline="-25000" dirty="0" err="1"/>
              <a:t>k</a:t>
            </a:r>
            <a:r>
              <a:rPr lang="en-US" b="1" dirty="0"/>
              <a:t>/MN</a:t>
            </a:r>
          </a:p>
          <a:p>
            <a:r>
              <a:rPr lang="en-US" dirty="0"/>
              <a:t>Where M and N are row and column dimensions of the image</a:t>
            </a:r>
          </a:p>
          <a:p>
            <a:r>
              <a:rPr lang="en-US" dirty="0"/>
              <a:t>Sum of all components of a normalized histogram is equal to 1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E3E701-1602-DB29-C5ED-71AB80C350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4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30D9-CCDB-4B3A-9395-87475CED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C54C-6379-45E0-B287-2B28134705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en-US" sz="2400" b="1" dirty="0"/>
                  <a:t>PDF </a:t>
                </a:r>
                <a:r>
                  <a:rPr lang="en-US" sz="2400" dirty="0"/>
                  <a:t>stands for probability density function. It's a function where you can think of the x values as the range of possible occurring values and y values as their probability of occurrence.</a:t>
                </a:r>
              </a:p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𝑴𝑵</m:t>
                        </m:r>
                      </m:den>
                    </m:f>
                  </m:oMath>
                </a14:m>
                <a:r>
                  <a:rPr lang="en-US" sz="2400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=0,1,2……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br>
                  <a:rPr lang="en-US" sz="2400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2400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b="0" i="0">
                          <a:solidFill>
                            <a:srgbClr val="000000"/>
                          </a:solidFill>
                        </a:rPr>
                        <m:t>: 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</a:rPr>
                        <m:t>the number of pixels in the image of  size M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</a:rPr>
                        <m:t>N with intensity 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FC54C-6379-45E0-B287-2B28134705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716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istogram">
            <a:extLst>
              <a:ext uri="{FF2B5EF4-FFF2-40B4-BE49-F238E27FC236}">
                <a16:creationId xmlns:a16="http://schemas.microsoft.com/office/drawing/2014/main" id="{EFE4FBB2-18C4-4948-B5AA-36AAE76AA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992" y="36957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stogram">
            <a:extLst>
              <a:ext uri="{FF2B5EF4-FFF2-40B4-BE49-F238E27FC236}">
                <a16:creationId xmlns:a16="http://schemas.microsoft.com/office/drawing/2014/main" id="{C49E551A-0ABB-42AE-B3D4-FBF7C1BD1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940" y="36957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328FF3-1CFB-4D09-BE55-DD98BE82E944}"/>
              </a:ext>
            </a:extLst>
          </p:cNvPr>
          <p:cNvSpPr txBox="1"/>
          <p:nvPr/>
        </p:nvSpPr>
        <p:spPr>
          <a:xfrm>
            <a:off x="7738090" y="5748100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6E7C52-58EC-4ECE-92F4-154D75411B30}"/>
                  </a:ext>
                </a:extLst>
              </p:cNvPr>
              <p:cNvSpPr txBox="1"/>
              <p:nvPr/>
            </p:nvSpPr>
            <p:spPr>
              <a:xfrm>
                <a:off x="3401764" y="5759493"/>
                <a:ext cx="492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e>
                        <m:sub>
                          <m:r>
                            <a:rPr lang="en-US" sz="18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6E7C52-58EC-4ECE-92F4-154D75411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764" y="5759493"/>
                <a:ext cx="492379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189C7B-0AFA-44AE-8FDD-1EE86072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1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8300-EBCD-4F08-B289-EEB6A3C2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15987-EA10-408B-A0A8-E1632BD2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i="0" dirty="0">
                <a:solidFill>
                  <a:srgbClr val="040C28"/>
                </a:solidFill>
                <a:effectLst/>
              </a:rPr>
              <a:t>CDF </a:t>
            </a:r>
            <a:r>
              <a:rPr lang="en-US" sz="2400" b="0" i="0" dirty="0">
                <a:solidFill>
                  <a:srgbClr val="040C28"/>
                </a:solidFill>
                <a:effectLst/>
              </a:rPr>
              <a:t>holds the probability of a probability distribution less than or equal to a particular value. </a:t>
            </a:r>
          </a:p>
          <a:p>
            <a:r>
              <a:rPr lang="en-US" sz="2400" b="0" i="0" dirty="0">
                <a:solidFill>
                  <a:srgbClr val="040C28"/>
                </a:solidFill>
                <a:effectLst/>
              </a:rPr>
              <a:t>It is a function that calculates the cumulative sum of all the values that are calculated by PDF.</a:t>
            </a:r>
          </a:p>
          <a:p>
            <a:endParaRPr lang="en-US" b="0" i="0" dirty="0">
              <a:solidFill>
                <a:srgbClr val="040C28"/>
              </a:solidFill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4" name="Picture 4" descr="histogram">
            <a:extLst>
              <a:ext uri="{FF2B5EF4-FFF2-40B4-BE49-F238E27FC236}">
                <a16:creationId xmlns:a16="http://schemas.microsoft.com/office/drawing/2014/main" id="{AA44DB53-E582-4265-B372-026785F3E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258" y="34290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istogram">
            <a:extLst>
              <a:ext uri="{FF2B5EF4-FFF2-40B4-BE49-F238E27FC236}">
                <a16:creationId xmlns:a16="http://schemas.microsoft.com/office/drawing/2014/main" id="{F2A821C7-914F-4C7C-AF69-841683A9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121" y="3429000"/>
            <a:ext cx="39719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BFEE42-0BF9-4F8E-8A15-99C27244B29C}"/>
              </a:ext>
            </a:extLst>
          </p:cNvPr>
          <p:cNvSpPr txBox="1"/>
          <p:nvPr/>
        </p:nvSpPr>
        <p:spPr>
          <a:xfrm>
            <a:off x="3039035" y="560653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3A450-7915-4679-BE75-5CFA4270C16C}"/>
              </a:ext>
            </a:extLst>
          </p:cNvPr>
          <p:cNvSpPr txBox="1"/>
          <p:nvPr/>
        </p:nvSpPr>
        <p:spPr>
          <a:xfrm>
            <a:off x="7763436" y="560653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CDF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A69EB6-E52B-4D08-AAD5-D77C87E3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80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39A4-0604-42F9-BCEB-B38C9D6D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Histogram Equalization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D7BF0-A79E-4D1A-A3FC-9C6C0124A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13" y="1190422"/>
            <a:ext cx="10515600" cy="53233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Histogram equalization is used to enhance contrast.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6C2D4-B412-4A13-9620-683B35F4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57" y="4164493"/>
            <a:ext cx="2975813" cy="1831072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9049236-E1E7-4CA3-96C5-2ACE9B9B3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23" y="4203987"/>
            <a:ext cx="2870583" cy="187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AC0AAD-74B3-406E-AE03-67D897AAF14A}"/>
              </a:ext>
            </a:extLst>
          </p:cNvPr>
          <p:cNvSpPr txBox="1"/>
          <p:nvPr/>
        </p:nvSpPr>
        <p:spPr>
          <a:xfrm>
            <a:off x="1035269" y="6033014"/>
            <a:ext cx="17510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Equalized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BD9E8-FBA9-4F71-95AB-9BE33582D4A0}"/>
              </a:ext>
            </a:extLst>
          </p:cNvPr>
          <p:cNvSpPr txBox="1"/>
          <p:nvPr/>
        </p:nvSpPr>
        <p:spPr>
          <a:xfrm>
            <a:off x="3137750" y="5995890"/>
            <a:ext cx="3572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Histogram of the Equalized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3A3B13-744D-44E8-B1D5-97AE8930A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896" y="1821015"/>
            <a:ext cx="2705154" cy="167947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64C7892-5563-483B-A81F-E60F204CF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75" y="1821015"/>
            <a:ext cx="2633106" cy="172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E21ABF-7CA2-4D62-843A-D1778373560B}"/>
              </a:ext>
            </a:extLst>
          </p:cNvPr>
          <p:cNvSpPr txBox="1"/>
          <p:nvPr/>
        </p:nvSpPr>
        <p:spPr>
          <a:xfrm>
            <a:off x="1035269" y="3568552"/>
            <a:ext cx="1708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Input Image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A8837-C834-465C-9E1B-D17E390DD02E}"/>
              </a:ext>
            </a:extLst>
          </p:cNvPr>
          <p:cNvSpPr txBox="1"/>
          <p:nvPr/>
        </p:nvSpPr>
        <p:spPr>
          <a:xfrm>
            <a:off x="3468896" y="3554964"/>
            <a:ext cx="298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Histogram of the Input Image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704C175-EC67-4407-A284-ABCA4586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7A218B-C27D-4000-AAA7-F8F513225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787" y="4112555"/>
            <a:ext cx="2742669" cy="20013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720CE5-9DE8-417D-9FAA-F450C93823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1037" y="4112555"/>
            <a:ext cx="2807979" cy="2026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A90516-7ECC-426C-A7BF-19F89F9132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6456" y="1625257"/>
            <a:ext cx="2965942" cy="21309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7080B66-40F4-49A4-A26C-FF61F74328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7725" y="1806301"/>
            <a:ext cx="2842211" cy="17622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81ABC9-9D7B-47C8-AB01-BBAF36863333}"/>
              </a:ext>
            </a:extLst>
          </p:cNvPr>
          <p:cNvSpPr txBox="1"/>
          <p:nvPr/>
        </p:nvSpPr>
        <p:spPr>
          <a:xfrm>
            <a:off x="6146180" y="3608698"/>
            <a:ext cx="298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PDF of the Input Image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9C1DEB-74BE-4DFB-A684-75744BF606EE}"/>
              </a:ext>
            </a:extLst>
          </p:cNvPr>
          <p:cNvSpPr txBox="1"/>
          <p:nvPr/>
        </p:nvSpPr>
        <p:spPr>
          <a:xfrm>
            <a:off x="9120494" y="3656058"/>
            <a:ext cx="298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CDF of the Input Image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D181C0-BC48-4D02-926F-9B2757201BFC}"/>
              </a:ext>
            </a:extLst>
          </p:cNvPr>
          <p:cNvSpPr txBox="1"/>
          <p:nvPr/>
        </p:nvSpPr>
        <p:spPr>
          <a:xfrm>
            <a:off x="6061313" y="6068581"/>
            <a:ext cx="3572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PDF of the Equalized Image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4819BC-5364-4DEF-B489-93FB7527FEE7}"/>
              </a:ext>
            </a:extLst>
          </p:cNvPr>
          <p:cNvSpPr txBox="1"/>
          <p:nvPr/>
        </p:nvSpPr>
        <p:spPr>
          <a:xfrm>
            <a:off x="8964895" y="6112768"/>
            <a:ext cx="3572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CDF of the Equalized Image</a:t>
            </a:r>
          </a:p>
        </p:txBody>
      </p:sp>
    </p:spTree>
    <p:extLst>
      <p:ext uri="{BB962C8B-B14F-4D97-AF65-F5344CB8AC3E}">
        <p14:creationId xmlns:p14="http://schemas.microsoft.com/office/powerpoint/2010/main" val="4001462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BA3F-F104-474F-936C-D00E6F58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 of Histogram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B8A76-3058-4701-837D-9FA6A7A4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2ED00-7150-4DBE-A8A0-A296C79D3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9739" y="1065213"/>
            <a:ext cx="4572001" cy="5656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4A861-60D1-4F40-8ABE-2A61CFB3C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93" y="2294103"/>
            <a:ext cx="5844186" cy="278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6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C59-C666-4A19-9DB1-6CA2485D0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Goal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4D296D-78C0-4F8A-88B6-C743765F7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6920"/>
          <a:stretch/>
        </p:blipFill>
        <p:spPr>
          <a:xfrm>
            <a:off x="1087476" y="1274642"/>
            <a:ext cx="6742851" cy="36469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1F100-66AF-4F37-957C-3890B82D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0DC52FD8-5E80-45A3-B3DF-F57291759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556" y="5183253"/>
            <a:ext cx="6073666" cy="1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8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8E89-2D73-42A3-A588-5C15E4E6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Condition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9615A-47BB-4A91-9206-B9C4D82A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0FF03E-6461-4280-98AD-FB3DDF74C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8737"/>
            <a:ext cx="9841441" cy="230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01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F6EA-FF33-4D1E-A810-EB347111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The Transformation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C143-F4E8-4740-BF22-3514E6C5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Content Placeholder 13">
            <a:extLst>
              <a:ext uri="{FF2B5EF4-FFF2-40B4-BE49-F238E27FC236}">
                <a16:creationId xmlns:a16="http://schemas.microsoft.com/office/drawing/2014/main" id="{C11CEAFA-600D-4D05-90F5-37B8F787B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552" y="1554246"/>
            <a:ext cx="7116896" cy="4241741"/>
          </a:xfrm>
        </p:spPr>
      </p:pic>
    </p:spTree>
    <p:extLst>
      <p:ext uri="{BB962C8B-B14F-4D97-AF65-F5344CB8AC3E}">
        <p14:creationId xmlns:p14="http://schemas.microsoft.com/office/powerpoint/2010/main" val="2926658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C469-38BE-4A7E-A902-408328C3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 The Transformation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3A121-68E4-463C-8236-71A61C2B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ECCFF1-F4DE-43A5-A4A4-5AB3E550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8722"/>
            <a:ext cx="7433141" cy="437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7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46A4-B793-48B1-959E-57AB0A5C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Histogram Equalization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B2A11-C576-4970-A746-02E7DE5C6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b="0" i="0" dirty="0">
                    <a:solidFill>
                      <a:srgbClr val="000000"/>
                    </a:solidFill>
                    <a:effectLst/>
                  </a:rPr>
                  <a:t>First calculate the PDF of all the pixels in this image.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𝑴𝑵</m:t>
                        </m:r>
                      </m:den>
                    </m:f>
                  </m:oMath>
                </a14:m>
                <a:r>
                  <a:rPr lang="en-US" sz="2400" b="1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=0,1,2……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effectLst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solidFill>
                      <a:srgbClr val="000000"/>
                    </a:solidFill>
                  </a:rPr>
                  <a:t>Cal</a:t>
                </a:r>
                <a:r>
                  <a:rPr lang="en-US" sz="2400" b="0" i="0" dirty="0">
                    <a:solidFill>
                      <a:srgbClr val="000000"/>
                    </a:solidFill>
                    <a:effectLst/>
                  </a:rPr>
                  <a:t>culate CDF (cumulative distributive function) of the pixels.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solidFill>
                      <a:srgbClr val="000000"/>
                    </a:solidFill>
                  </a:rPr>
                  <a:t>Multiply CDF of each pixel value with the highest intensity to satisfy the transformation function.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457200" indent="-457200" algn="ctr">
                  <a:buFont typeface="+mj-lt"/>
                  <a:buAutoNum type="arabicPeriod" startAt="2"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solidFill>
                      <a:srgbClr val="000000"/>
                    </a:solidFill>
                  </a:rPr>
                  <a:t>The output image is obtained by mapping each pixel in the input image with intensity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r</a:t>
                </a:r>
                <a:r>
                  <a:rPr lang="en-US" sz="2400" baseline="-25000" dirty="0" err="1">
                    <a:solidFill>
                      <a:srgbClr val="000000"/>
                    </a:solidFill>
                  </a:rPr>
                  <a:t>k</a:t>
                </a:r>
                <a:r>
                  <a:rPr lang="en-US" sz="2400" baseline="-25000" dirty="0">
                    <a:solidFill>
                      <a:srgbClr val="000000"/>
                    </a:solidFill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</a:rPr>
                  <a:t>into the corresponding pixel with level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s</a:t>
                </a:r>
                <a:r>
                  <a:rPr lang="en-US" sz="2400" baseline="-25000" dirty="0" err="1">
                    <a:solidFill>
                      <a:srgbClr val="000000"/>
                    </a:solidFill>
                  </a:rPr>
                  <a:t>k</a:t>
                </a:r>
                <a:r>
                  <a:rPr lang="en-US" sz="2400" dirty="0">
                    <a:solidFill>
                      <a:srgbClr val="000000"/>
                    </a:solidFill>
                  </a:rPr>
                  <a:t> in the output image.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B2A11-C576-4970-A746-02E7DE5C6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635C7-FC5D-4CE6-A00B-CEBEA21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0301C8-7343-4E66-9700-B71AA8A2AD4E}"/>
                  </a:ext>
                </a:extLst>
              </p:cNvPr>
              <p:cNvSpPr txBox="1"/>
              <p:nvPr/>
            </p:nvSpPr>
            <p:spPr>
              <a:xfrm>
                <a:off x="4139452" y="3592327"/>
                <a:ext cx="4117041" cy="4407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dirty="0"/>
                  <a:t>S</a:t>
                </a:r>
                <a:r>
                  <a:rPr lang="en-US" sz="2400" baseline="-25000" dirty="0" err="1"/>
                  <a:t>k</a:t>
                </a:r>
                <a:r>
                  <a:rPr lang="en-US" sz="2400" baseline="-25000" dirty="0"/>
                  <a:t> </a:t>
                </a:r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−1)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0301C8-7343-4E66-9700-B71AA8A2A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452" y="3592327"/>
                <a:ext cx="4117041" cy="440762"/>
              </a:xfrm>
              <a:prstGeom prst="rect">
                <a:avLst/>
              </a:prstGeom>
              <a:blipFill>
                <a:blip r:embed="rId3"/>
                <a:stretch>
                  <a:fillRect l="-4444" t="-13699" b="-3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1D28D9-9D81-4BF9-87AC-A2555D71EB5F}"/>
                  </a:ext>
                </a:extLst>
              </p:cNvPr>
              <p:cNvSpPr txBox="1"/>
              <p:nvPr/>
            </p:nvSpPr>
            <p:spPr>
              <a:xfrm>
                <a:off x="4706298" y="4118253"/>
                <a:ext cx="2983348" cy="712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𝑴𝑵</m:t>
                        </m:r>
                      </m:den>
                    </m:f>
                  </m:oMath>
                </a14:m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  <m:e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1D28D9-9D81-4BF9-87AC-A2555D71E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298" y="4118253"/>
                <a:ext cx="2983348" cy="7126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080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50058" y="1570687"/>
            <a:ext cx="2825636" cy="21900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0</a:t>
            </a:r>
            <a:r>
              <a:rPr lang="en-US" sz="1600" dirty="0">
                <a:solidFill>
                  <a:schemeClr val="tx1"/>
                </a:solidFill>
              </a:rPr>
              <a:t> = 1.33 = 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1</a:t>
            </a:r>
            <a:r>
              <a:rPr lang="en-US" sz="1600" dirty="0">
                <a:solidFill>
                  <a:schemeClr val="tx1"/>
                </a:solidFill>
              </a:rPr>
              <a:t> = 3.08 = 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</a:rPr>
              <a:t> = 4.55 = 5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3</a:t>
            </a:r>
            <a:r>
              <a:rPr lang="en-US" sz="1600" dirty="0">
                <a:solidFill>
                  <a:schemeClr val="tx1"/>
                </a:solidFill>
              </a:rPr>
              <a:t> = 5.67 = 6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4</a:t>
            </a:r>
            <a:r>
              <a:rPr lang="en-US" sz="1600" dirty="0">
                <a:solidFill>
                  <a:schemeClr val="tx1"/>
                </a:solidFill>
              </a:rPr>
              <a:t> = 6.23 = 6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5</a:t>
            </a:r>
            <a:r>
              <a:rPr lang="en-US" sz="1600" dirty="0">
                <a:solidFill>
                  <a:schemeClr val="tx1"/>
                </a:solidFill>
              </a:rPr>
              <a:t> = 6.65 = 7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6</a:t>
            </a:r>
            <a:r>
              <a:rPr lang="en-US" sz="1600" dirty="0">
                <a:solidFill>
                  <a:schemeClr val="tx1"/>
                </a:solidFill>
              </a:rPr>
              <a:t> = 6.86 = 7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baseline="-25000" dirty="0">
                <a:solidFill>
                  <a:schemeClr val="tx1"/>
                </a:solidFill>
              </a:rPr>
              <a:t>7</a:t>
            </a:r>
            <a:r>
              <a:rPr lang="en-US" sz="1600" dirty="0">
                <a:solidFill>
                  <a:schemeClr val="tx1"/>
                </a:solidFill>
              </a:rPr>
              <a:t> = 7.00 = 7  </a:t>
            </a:r>
          </a:p>
        </p:txBody>
      </p:sp>
      <p:pic>
        <p:nvPicPr>
          <p:cNvPr id="7" name="Picture 2" descr="https://scontent-frt3-1.xx.fbcdn.net/v/t35.0-12/17902707_1297930643619714_1560206760_o.jpg?oh=40d5743877c5dac24f5180261e21c22a&amp;oe=58ED7D7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86" r="1067" b="2407"/>
          <a:stretch/>
        </p:blipFill>
        <p:spPr bwMode="auto">
          <a:xfrm>
            <a:off x="2590713" y="1249732"/>
            <a:ext cx="3534176" cy="247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3484"/>
          <a:stretch/>
        </p:blipFill>
        <p:spPr>
          <a:xfrm>
            <a:off x="2355274" y="3964514"/>
            <a:ext cx="6786386" cy="247003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65BF484-C543-4F64-A8D7-4C4A1B099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093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Map </a:t>
            </a:r>
            <a:r>
              <a:rPr lang="en-US" dirty="0" err="1"/>
              <a:t>s</a:t>
            </a:r>
            <a:r>
              <a:rPr lang="en-US" baseline="-25000" dirty="0" err="1"/>
              <a:t>k</a:t>
            </a:r>
            <a:r>
              <a:rPr lang="en-US" dirty="0"/>
              <a:t> to its </a:t>
            </a:r>
            <a:r>
              <a:rPr lang="en-US" dirty="0" err="1"/>
              <a:t>r</a:t>
            </a:r>
            <a:r>
              <a:rPr lang="en-US" baseline="-25000" dirty="0" err="1"/>
              <a:t>k</a:t>
            </a:r>
            <a:r>
              <a:rPr lang="en-US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5719-C854-4E1F-A925-A8C11F9F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E72A84-8E68-4824-9E8C-A6C6445BC547}"/>
              </a:ext>
            </a:extLst>
          </p:cNvPr>
          <p:cNvCxnSpPr>
            <a:cxnSpLocks/>
          </p:cNvCxnSpPr>
          <p:nvPr/>
        </p:nvCxnSpPr>
        <p:spPr>
          <a:xfrm>
            <a:off x="6650058" y="1625838"/>
            <a:ext cx="271806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4E02EF-2AA2-4D55-9279-B5117A19D5AE}"/>
              </a:ext>
            </a:extLst>
          </p:cNvPr>
          <p:cNvSpPr txBox="1"/>
          <p:nvPr/>
        </p:nvSpPr>
        <p:spPr>
          <a:xfrm>
            <a:off x="7834200" y="121032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</a:t>
            </a:r>
            <a:r>
              <a:rPr lang="en-US" b="1" baseline="-25000" dirty="0" err="1"/>
              <a:t>k</a:t>
            </a:r>
            <a:endParaRPr lang="en-US" b="1" baseline="-25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15092-5D1F-465B-B4D1-2A415C0B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74" y="1365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392D7-216D-4031-AC0C-9AAB7F15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E21D78D-7FAA-45FC-A0C4-63122E350B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403"/>
          <a:stretch/>
        </p:blipFill>
        <p:spPr>
          <a:xfrm>
            <a:off x="1891553" y="937066"/>
            <a:ext cx="7067738" cy="24919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562992-F7B8-4C72-B2AC-9CD285EC0B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1"/>
          <a:stretch/>
        </p:blipFill>
        <p:spPr>
          <a:xfrm>
            <a:off x="1891553" y="3380943"/>
            <a:ext cx="7067738" cy="334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72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3AE8-BBEE-493B-B63B-54D3FF3D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60989-6BF4-E940-BD98-990E8C04D268}"/>
              </a:ext>
            </a:extLst>
          </p:cNvPr>
          <p:cNvSpPr txBox="1"/>
          <p:nvPr/>
        </p:nvSpPr>
        <p:spPr>
          <a:xfrm>
            <a:off x="381000" y="152400"/>
            <a:ext cx="1143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Work: Histogram Equalization (A1, B1)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CFF7F4-1A6B-BE8F-3DF7-81E9FC5A2DBA}"/>
              </a:ext>
            </a:extLst>
          </p:cNvPr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2F340B9-7687-20B8-213B-676C75CBB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09" y="1467892"/>
            <a:ext cx="11009583" cy="5390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32C5B6-120C-2B74-A254-315C2AF1C12B}"/>
              </a:ext>
            </a:extLst>
          </p:cNvPr>
          <p:cNvSpPr txBox="1"/>
          <p:nvPr/>
        </p:nvSpPr>
        <p:spPr>
          <a:xfrm>
            <a:off x="381001" y="921842"/>
            <a:ext cx="114299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3000" dirty="0"/>
              <a:t>Equalize an RGB image by individually equalizing all channels.</a:t>
            </a:r>
          </a:p>
        </p:txBody>
      </p:sp>
    </p:spTree>
    <p:extLst>
      <p:ext uri="{BB962C8B-B14F-4D97-AF65-F5344CB8AC3E}">
        <p14:creationId xmlns:p14="http://schemas.microsoft.com/office/powerpoint/2010/main" val="75817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D51F-5A0A-2B34-42D8-F695359B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3495D-4A61-9514-B877-EC1024ADBEFA}"/>
              </a:ext>
            </a:extLst>
          </p:cNvPr>
          <p:cNvSpPr txBox="1"/>
          <p:nvPr/>
        </p:nvSpPr>
        <p:spPr>
          <a:xfrm>
            <a:off x="381000" y="152400"/>
            <a:ext cx="11430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Work: Histogram Matching (A2, B2)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CD2235B-FEBD-2BBD-0A04-49B802BD9C8B}"/>
              </a:ext>
            </a:extLst>
          </p:cNvPr>
          <p:cNvCxnSpPr/>
          <p:nvPr/>
        </p:nvCxnSpPr>
        <p:spPr>
          <a:xfrm>
            <a:off x="381000" y="914400"/>
            <a:ext cx="11430000" cy="0"/>
          </a:xfrm>
          <a:prstGeom prst="line">
            <a:avLst/>
          </a:prstGeom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FC90307-5460-C0A8-D9E1-77C07C5AB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" y="1444730"/>
            <a:ext cx="10894978" cy="533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BC0CFB-9E6F-F943-C886-20F8A291910C}"/>
              </a:ext>
            </a:extLst>
          </p:cNvPr>
          <p:cNvSpPr txBox="1"/>
          <p:nvPr/>
        </p:nvSpPr>
        <p:spPr>
          <a:xfrm>
            <a:off x="1" y="921842"/>
            <a:ext cx="121919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3000" dirty="0"/>
              <a:t>Equalize an RGB image by equalizing only the L channel in Lab color space.</a:t>
            </a:r>
          </a:p>
        </p:txBody>
      </p:sp>
    </p:spTree>
    <p:extLst>
      <p:ext uri="{BB962C8B-B14F-4D97-AF65-F5344CB8AC3E}">
        <p14:creationId xmlns:p14="http://schemas.microsoft.com/office/powerpoint/2010/main" val="4044145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602B-7643-4DC4-AC24-0C8CD7F25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7091" y="2871974"/>
            <a:ext cx="3157818" cy="884238"/>
          </a:xfrm>
        </p:spPr>
        <p:txBody>
          <a:bodyPr>
            <a:normAutofit/>
          </a:bodyPr>
          <a:lstStyle/>
          <a:p>
            <a:r>
              <a:rPr lang="en-US" sz="48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F1081-68A6-4236-AEF4-16EB54BC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512</Words>
  <Application>Microsoft Office PowerPoint</Application>
  <PresentationFormat>Widescreen</PresentationFormat>
  <Paragraphs>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Google Sans</vt:lpstr>
      <vt:lpstr>Times New Roman</vt:lpstr>
      <vt:lpstr>Office Theme</vt:lpstr>
      <vt:lpstr>PowerPoint Presentation</vt:lpstr>
      <vt:lpstr>Histogram</vt:lpstr>
      <vt:lpstr>Histogram Processing</vt:lpstr>
      <vt:lpstr>PDF</vt:lpstr>
      <vt:lpstr>CDF</vt:lpstr>
      <vt:lpstr>Histogram Equalization</vt:lpstr>
      <vt:lpstr>Effect of Histogram Processing</vt:lpstr>
      <vt:lpstr>Our Goal</vt:lpstr>
      <vt:lpstr>The Condition</vt:lpstr>
      <vt:lpstr>Find The Transformation Function</vt:lpstr>
      <vt:lpstr>Find The Transformation Function</vt:lpstr>
      <vt:lpstr>Histogram Equalization</vt:lpstr>
      <vt:lpstr>Map sk to its rk </vt:lpstr>
      <vt:lpstr>Class work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Kazi Rifat Al Muin</cp:lastModifiedBy>
  <cp:revision>113</cp:revision>
  <dcterms:created xsi:type="dcterms:W3CDTF">2022-03-22T12:35:29Z</dcterms:created>
  <dcterms:modified xsi:type="dcterms:W3CDTF">2026-08-11T05:03:12Z</dcterms:modified>
</cp:coreProperties>
</file>